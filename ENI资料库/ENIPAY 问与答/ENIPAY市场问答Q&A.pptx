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9" r:id="rId3"/>
    <p:sldId id="16602380" r:id="rId4"/>
    <p:sldId id="258" r:id="rId5"/>
    <p:sldId id="16602394" r:id="rId6"/>
    <p:sldId id="16602395" r:id="rId7"/>
    <p:sldId id="16602396" r:id="rId8"/>
    <p:sldId id="16602397" r:id="rId9"/>
    <p:sldId id="16602398" r:id="rId10"/>
    <p:sldId id="16602399" r:id="rId11"/>
    <p:sldId id="16602381" r:id="rId12"/>
    <p:sldId id="16602400" r:id="rId13"/>
    <p:sldId id="16602401" r:id="rId14"/>
    <p:sldId id="16602402" r:id="rId15"/>
    <p:sldId id="16602383" r:id="rId16"/>
    <p:sldId id="16602403" r:id="rId17"/>
    <p:sldId id="16602404" r:id="rId18"/>
    <p:sldId id="16602392" r:id="rId19"/>
    <p:sldId id="16602405" r:id="rId20"/>
    <p:sldId id="16602406" r:id="rId21"/>
    <p:sldId id="278" r:id="rId22"/>
  </p:sldIdLst>
  <p:sldSz cx="18288000" cy="10287000"/>
  <p:notesSz cx="10287000" cy="18288000"/>
  <p:embeddedFontLst>
    <p:embeddedFont>
      <p:font typeface="Arial Black" panose="020B0A04020102020204" pitchFamily="34" charset="0"/>
      <p:bold r:id="rId24"/>
    </p:embeddedFont>
    <p:embeddedFont>
      <p:font typeface="Impact" panose="020B0806030902050204" pitchFamily="34" charset="0"/>
      <p:regular r:id="rId25"/>
    </p:embeddedFont>
    <p:embeddedFont>
      <p:font typeface="方正大黑繁体" panose="03000509000000000000" pitchFamily="65" charset="-122"/>
      <p:regular r:id="rId26"/>
    </p:embeddedFont>
    <p:embeddedFont>
      <p:font typeface="汉仪菱心体简" panose="02010609000101010101" pitchFamily="49" charset="-122"/>
      <p:regular r:id="rId27"/>
    </p:embeddedFont>
    <p:embeddedFont>
      <p:font typeface="苹方 特粗" panose="020B0800000000000000" pitchFamily="34" charset="-122"/>
      <p:regular r:id="rId28"/>
    </p:embeddedFont>
    <p:embeddedFont>
      <p:font typeface="苹方 中等" panose="020B0400000000000000" pitchFamily="34" charset="-122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EE2C"/>
    <a:srgbClr val="548036"/>
    <a:srgbClr val="9DF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168" autoAdjust="0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96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4F04C-B89D-8DFF-3E4E-2A640492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BA6C8-DBAA-5DAA-4E00-0527171C3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B64CC-9132-7C27-F273-3B93FFFD8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45EB8-75AB-7AB6-E064-517506A78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20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AE90E-7446-83E5-9DA4-1EF0C9EB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C5109-FDCD-8D0A-DDE6-4A29871D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5B485-4744-8E5A-02C4-8DC7018B0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D0D43-D9F3-19D1-4869-DD0E29F73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0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25FC4-C003-306E-F924-823DBE1A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95F0C-9A18-323D-B427-829C25BBD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902E6-F928-57CD-8C66-8646D925F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66589-88D3-CF83-D2FE-0363397FB9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5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36D34-272C-3C67-F929-A5F28DA89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84DFB-AE8A-8674-CE3B-997FB342F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7F0EC-14AD-98FA-FC10-3C7EA9542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83B2F-3F3F-1240-ACC2-2E4BC8776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82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8C449-12A5-B479-14FA-5A3A1D87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396FD-FC5A-16DC-640A-536392BFA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462EA-14FF-7267-32AD-69FB06871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86E9C-21BD-64EB-7C7E-976085A14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20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8DFC-961B-F717-DC5D-508382D6F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57627-C26D-C9E9-6186-EFCB74211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80DE0-ACD5-A267-9113-3FC81365B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23AE-5C00-2799-2906-9C87AF38A3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02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3E29-1E58-84C5-1850-6025E339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646B-EF69-4684-11FE-9DCF3DFBA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AE98B-93C5-7A0C-B6EE-3F6F2A83B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14FB-261D-ECBC-D36A-688A1519E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64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4E59B-CF6F-3362-039E-6E84250AF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1470D-C330-FD64-2216-92363E286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0CDA4-5022-04B5-C1D2-20F983820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15FE8-BFD6-6CB7-F31B-E50456BC9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76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AA25-378B-79CB-6354-F28ADC33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30E54-9A04-2FEA-4C99-E5B174576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9F3CD-0526-20FD-50E3-C08F891C8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54994-4B86-631D-9725-9AFAC827C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05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F3EF-26EB-1105-1166-CB48813F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181A2-20BD-E472-7CBD-AF6CF4E66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9E56D-F1CB-886A-B093-0AE4223BB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A9632-B152-C47D-4749-A0CA73AE0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66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D014-C51B-1A97-F109-A68E5C6D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4333B-DFE4-8576-0B00-A413F528A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4C6D8-3538-3225-E4C9-2088E5904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ADA21-5E56-5F6E-6719-7AA79384CB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32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4E44-06E5-D892-827A-AA1EB2DC9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097DA-D6D2-5796-8545-2A440D4DE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B1839-DE08-0D31-BDC7-0DBD45630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5F720-6E04-A91B-DDB6-9845A83D30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11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09A87-0FA5-3182-D2FC-8F9AE1B1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774CC-0413-85B4-D5AA-69A9B1E66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A6476-7993-D0BD-3C4D-93DD5CC26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545D2-570F-D86A-2DE2-08C41105D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57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E64A161C-A3EB-9FF5-C907-DF6EC31DF388}"/>
              </a:ext>
            </a:extLst>
          </p:cNvPr>
          <p:cNvSpPr/>
          <p:nvPr userDrawn="1"/>
        </p:nvSpPr>
        <p:spPr>
          <a:xfrm>
            <a:off x="518794" y="920750"/>
            <a:ext cx="5670991" cy="16129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rgbClr val="93EE2C"/>
              </a:gs>
              <a:gs pos="23000">
                <a:srgbClr val="B6DFF6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pic>
        <p:nvPicPr>
          <p:cNvPr id="7" name="图片 6" descr="黑暗里有灯光&#10;&#10;AI 生成的内容可能不正确。">
            <a:extLst>
              <a:ext uri="{FF2B5EF4-FFF2-40B4-BE49-F238E27FC236}">
                <a16:creationId xmlns:a16="http://schemas.microsoft.com/office/drawing/2014/main" id="{A2BC5F99-6907-A826-B51B-4389FE7985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04410" y="491717"/>
            <a:ext cx="2464796" cy="590323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9D0CE189-3A46-1548-D378-32D409214459}"/>
              </a:ext>
            </a:extLst>
          </p:cNvPr>
          <p:cNvSpPr txBox="1"/>
          <p:nvPr userDrawn="1"/>
        </p:nvSpPr>
        <p:spPr>
          <a:xfrm rot="10800000">
            <a:off x="-1" y="7498080"/>
            <a:ext cx="18281524" cy="2788920"/>
          </a:xfrm>
          <a:prstGeom prst="rect">
            <a:avLst/>
          </a:prstGeom>
          <a:gradFill>
            <a:gsLst>
              <a:gs pos="0">
                <a:srgbClr val="93EE2C">
                  <a:alpha val="48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D0CE189-3A46-1548-D378-32D409214459}"/>
              </a:ext>
            </a:extLst>
          </p:cNvPr>
          <p:cNvSpPr txBox="1"/>
          <p:nvPr userDrawn="1"/>
        </p:nvSpPr>
        <p:spPr>
          <a:xfrm rot="10800000">
            <a:off x="-1" y="7498080"/>
            <a:ext cx="18281524" cy="2788920"/>
          </a:xfrm>
          <a:prstGeom prst="rect">
            <a:avLst/>
          </a:prstGeom>
          <a:gradFill>
            <a:gsLst>
              <a:gs pos="0">
                <a:srgbClr val="93EE2C">
                  <a:alpha val="48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9836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D0CE189-3A46-1548-D378-32D409214459}"/>
              </a:ext>
            </a:extLst>
          </p:cNvPr>
          <p:cNvSpPr txBox="1"/>
          <p:nvPr userDrawn="1"/>
        </p:nvSpPr>
        <p:spPr>
          <a:xfrm rot="10800000">
            <a:off x="-1" y="7498080"/>
            <a:ext cx="18281524" cy="2788920"/>
          </a:xfrm>
          <a:prstGeom prst="rect">
            <a:avLst/>
          </a:prstGeom>
          <a:gradFill>
            <a:gsLst>
              <a:gs pos="0">
                <a:srgbClr val="93EE2C">
                  <a:alpha val="48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7857E8-EC53-E262-4AB1-3D5C13B64A4B}"/>
              </a:ext>
            </a:extLst>
          </p:cNvPr>
          <p:cNvSpPr/>
          <p:nvPr userDrawn="1"/>
        </p:nvSpPr>
        <p:spPr>
          <a:xfrm>
            <a:off x="1" y="9153740"/>
            <a:ext cx="18287048" cy="1134000"/>
          </a:xfrm>
          <a:prstGeom prst="rect">
            <a:avLst/>
          </a:prstGeom>
          <a:gradFill>
            <a:gsLst>
              <a:gs pos="53000">
                <a:srgbClr val="9DFA34"/>
              </a:gs>
              <a:gs pos="100000">
                <a:srgbClr val="9DFA3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700">
              <a:sym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82D628-030A-613A-0CBD-D7E6F9CC0E63}"/>
              </a:ext>
            </a:extLst>
          </p:cNvPr>
          <p:cNvGrpSpPr/>
          <p:nvPr userDrawn="1"/>
        </p:nvGrpSpPr>
        <p:grpSpPr>
          <a:xfrm>
            <a:off x="15357158" y="9558815"/>
            <a:ext cx="2100263" cy="323850"/>
            <a:chOff x="16123" y="9760"/>
            <a:chExt cx="2205" cy="34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77BE34E-95B8-430D-4E58-9C39508E61CE}"/>
                </a:ext>
              </a:extLst>
            </p:cNvPr>
            <p:cNvGrpSpPr/>
            <p:nvPr/>
          </p:nvGrpSpPr>
          <p:grpSpPr>
            <a:xfrm>
              <a:off x="17356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12" name="燕尾形 77">
                <a:extLst>
                  <a:ext uri="{FF2B5EF4-FFF2-40B4-BE49-F238E27FC236}">
                    <a16:creationId xmlns:a16="http://schemas.microsoft.com/office/drawing/2014/main" id="{67871FB0-6EF5-520C-074F-DFB9EAEE14E9}"/>
                  </a:ext>
                </a:extLst>
              </p:cNvPr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3" name="燕尾形 78">
                <a:extLst>
                  <a:ext uri="{FF2B5EF4-FFF2-40B4-BE49-F238E27FC236}">
                    <a16:creationId xmlns:a16="http://schemas.microsoft.com/office/drawing/2014/main" id="{2C778B65-8E00-8F38-5238-35E9395E8802}"/>
                  </a:ext>
                </a:extLst>
              </p:cNvPr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4" name="燕尾形 79">
                <a:extLst>
                  <a:ext uri="{FF2B5EF4-FFF2-40B4-BE49-F238E27FC236}">
                    <a16:creationId xmlns:a16="http://schemas.microsoft.com/office/drawing/2014/main" id="{478E0DBD-16A9-F90B-F929-AED7A0709527}"/>
                  </a:ext>
                </a:extLst>
              </p:cNvPr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5" name="燕尾形 80">
                <a:extLst>
                  <a:ext uri="{FF2B5EF4-FFF2-40B4-BE49-F238E27FC236}">
                    <a16:creationId xmlns:a16="http://schemas.microsoft.com/office/drawing/2014/main" id="{8F52767D-BDD1-9DA1-E276-F6DCBDD57A76}"/>
                  </a:ext>
                </a:extLst>
              </p:cNvPr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1D51C5E-4F7D-A876-D46D-8B3CC63656F9}"/>
                </a:ext>
              </a:extLst>
            </p:cNvPr>
            <p:cNvGrpSpPr/>
            <p:nvPr/>
          </p:nvGrpSpPr>
          <p:grpSpPr>
            <a:xfrm>
              <a:off x="16123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7" name="燕尾形 82">
                <a:extLst>
                  <a:ext uri="{FF2B5EF4-FFF2-40B4-BE49-F238E27FC236}">
                    <a16:creationId xmlns:a16="http://schemas.microsoft.com/office/drawing/2014/main" id="{120DA09B-2E88-BB4A-81DE-D05B0F69700F}"/>
                  </a:ext>
                </a:extLst>
              </p:cNvPr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9" name="燕尾形 83">
                <a:extLst>
                  <a:ext uri="{FF2B5EF4-FFF2-40B4-BE49-F238E27FC236}">
                    <a16:creationId xmlns:a16="http://schemas.microsoft.com/office/drawing/2014/main" id="{21511B2D-7937-7BB3-EDE9-BA2B81CE6F98}"/>
                  </a:ext>
                </a:extLst>
              </p:cNvPr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0" name="燕尾形 84">
                <a:extLst>
                  <a:ext uri="{FF2B5EF4-FFF2-40B4-BE49-F238E27FC236}">
                    <a16:creationId xmlns:a16="http://schemas.microsoft.com/office/drawing/2014/main" id="{AB20E3BE-56B5-B1E1-363B-D668F3CFAFE1}"/>
                  </a:ext>
                </a:extLst>
              </p:cNvPr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1" name="燕尾形 85">
                <a:extLst>
                  <a:ext uri="{FF2B5EF4-FFF2-40B4-BE49-F238E27FC236}">
                    <a16:creationId xmlns:a16="http://schemas.microsoft.com/office/drawing/2014/main" id="{1C279D49-473E-6831-7FE8-B9AAA575251B}"/>
                  </a:ext>
                </a:extLst>
              </p:cNvPr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</p:grpSp>
      <p:pic>
        <p:nvPicPr>
          <p:cNvPr id="16" name="Frame 35" descr="preencoded.png">
            <a:extLst>
              <a:ext uri="{FF2B5EF4-FFF2-40B4-BE49-F238E27FC236}">
                <a16:creationId xmlns:a16="http://schemas.microsoft.com/office/drawing/2014/main" id="{048C073D-0F54-D854-DB3B-718F72A927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33176" y="9482644"/>
            <a:ext cx="2703919" cy="532464"/>
          </a:xfrm>
          <a:prstGeom prst="rect">
            <a:avLst/>
          </a:prstGeom>
        </p:spPr>
      </p:pic>
      <p:pic>
        <p:nvPicPr>
          <p:cNvPr id="17" name="图片 16" descr="图片包含 文本&#10;&#10;AI 生成的内容可能不正确。">
            <a:extLst>
              <a:ext uri="{FF2B5EF4-FFF2-40B4-BE49-F238E27FC236}">
                <a16:creationId xmlns:a16="http://schemas.microsoft.com/office/drawing/2014/main" id="{B266D372-050C-E90C-126C-632C694827C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242832" y="9444039"/>
            <a:ext cx="1889536" cy="58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2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600" y="2235600"/>
            <a:ext cx="16453800" cy="71388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58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连接符 51"/>
          <p:cNvCxnSpPr/>
          <p:nvPr/>
        </p:nvCxnSpPr>
        <p:spPr>
          <a:xfrm flipH="1">
            <a:off x="15470506" y="1183005"/>
            <a:ext cx="1730693" cy="0"/>
          </a:xfrm>
          <a:prstGeom prst="line">
            <a:avLst/>
          </a:prstGeom>
          <a:ln w="38100" cap="rnd">
            <a:solidFill>
              <a:srgbClr val="29B5F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>
            <a:off x="7675124" y="1183005"/>
            <a:ext cx="9461304" cy="0"/>
          </a:xfrm>
          <a:prstGeom prst="line">
            <a:avLst/>
          </a:prstGeom>
          <a:ln w="15240" cap="rnd">
            <a:solidFill>
              <a:srgbClr val="44A9E8">
                <a:alpha val="2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93674" y="34290"/>
            <a:ext cx="1363326" cy="1363326"/>
          </a:xfrm>
          <a:prstGeom prst="rect">
            <a:avLst/>
          </a:prstGeom>
        </p:spPr>
      </p:pic>
      <p:sp>
        <p:nvSpPr>
          <p:cNvPr id="6" name="标题 1"/>
          <p:cNvSpPr txBox="1"/>
          <p:nvPr userDrawn="1"/>
        </p:nvSpPr>
        <p:spPr>
          <a:xfrm rot="10800000">
            <a:off x="1" y="6103622"/>
            <a:ext cx="18302054" cy="4207442"/>
          </a:xfrm>
          <a:prstGeom prst="rect">
            <a:avLst/>
          </a:prstGeom>
          <a:gradFill>
            <a:gsLst>
              <a:gs pos="0">
                <a:schemeClr val="accent1">
                  <a:alpha val="22435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137160" tIns="68580" rIns="137160" bIns="6858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700">
              <a:cs typeface="+mn-ea"/>
              <a:sym typeface="+mn-lt"/>
            </a:endParaRPr>
          </a:p>
        </p:txBody>
      </p:sp>
      <p:grpSp>
        <p:nvGrpSpPr>
          <p:cNvPr id="57" name="组合 56"/>
          <p:cNvGrpSpPr/>
          <p:nvPr userDrawn="1"/>
        </p:nvGrpSpPr>
        <p:grpSpPr>
          <a:xfrm>
            <a:off x="519374" y="9456007"/>
            <a:ext cx="17277360" cy="461963"/>
            <a:chOff x="1176" y="9390"/>
            <a:chExt cx="17060" cy="485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176" y="9654"/>
              <a:ext cx="14907" cy="20"/>
            </a:xfrm>
            <a:prstGeom prst="line">
              <a:avLst/>
            </a:prstGeom>
            <a:ln w="12700">
              <a:solidFill>
                <a:srgbClr val="B6DFF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16083" y="9390"/>
              <a:ext cx="2153" cy="48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/>
              <a:r>
                <a:rPr lang="en-US" altLang="zh-CN" sz="2400" dirty="0">
                  <a:solidFill>
                    <a:srgbClr val="2C75FF"/>
                  </a:solidFill>
                  <a:latin typeface="+mn-lt"/>
                  <a:ea typeface="汉仪旗黑-55简" panose="00020600040101010101" charset="-128"/>
                </a:rPr>
                <a:t>LinkPay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064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0" r:id="rId4"/>
    <p:sldLayoutId id="2147483651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Vector 9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5648092"/>
            <a:ext cx="14174214" cy="4638908"/>
          </a:xfrm>
          <a:prstGeom prst="rect">
            <a:avLst/>
          </a:prstGeom>
        </p:spPr>
      </p:pic>
      <p:pic>
        <p:nvPicPr>
          <p:cNvPr id="4" name="Vector 11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69964" y="0"/>
            <a:ext cx="12218036" cy="8474189"/>
          </a:xfrm>
          <a:prstGeom prst="rect">
            <a:avLst/>
          </a:prstGeom>
        </p:spPr>
      </p:pic>
      <p:pic>
        <p:nvPicPr>
          <p:cNvPr id="5" name="Vector 10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" name="Frame 3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279079" y="2495328"/>
            <a:ext cx="7522521" cy="1481358"/>
          </a:xfrm>
          <a:prstGeom prst="rect">
            <a:avLst/>
          </a:prstGeom>
        </p:spPr>
      </p:pic>
      <p:sp>
        <p:nvSpPr>
          <p:cNvPr id="8" name="default_name"/>
          <p:cNvSpPr/>
          <p:nvPr/>
        </p:nvSpPr>
        <p:spPr>
          <a:xfrm>
            <a:off x="3774281" y="5329584"/>
            <a:ext cx="1072038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9000" dirty="0">
                <a:solidFill>
                  <a:srgbClr val="000000"/>
                </a:solidFill>
                <a:latin typeface="方正大黑繁体" panose="03000509000000000000" pitchFamily="65" charset="-122"/>
                <a:ea typeface="方正大黑繁体" panose="03000509000000000000" pitchFamily="65" charset="-122"/>
                <a:cs typeface="MiSans Bold" pitchFamily="34" charset="-120"/>
              </a:rPr>
              <a:t>市场问答</a:t>
            </a:r>
            <a:r>
              <a:rPr lang="en-US" altLang="zh-CN" sz="9000" dirty="0">
                <a:solidFill>
                  <a:srgbClr val="000000"/>
                </a:solidFill>
                <a:latin typeface="方正大黑繁体" panose="03000509000000000000" pitchFamily="65" charset="-122"/>
                <a:ea typeface="方正大黑繁体" panose="03000509000000000000" pitchFamily="65" charset="-122"/>
                <a:cs typeface="MiSans Bold" pitchFamily="34" charset="-120"/>
              </a:rPr>
              <a:t>Q&amp;A</a:t>
            </a:r>
            <a:endParaRPr lang="en-US" sz="9000" dirty="0">
              <a:latin typeface="方正大黑繁体" panose="03000509000000000000" pitchFamily="65" charset="-122"/>
              <a:ea typeface="方正大黑繁体" panose="03000509000000000000" pitchFamily="65" charset="-122"/>
            </a:endParaRPr>
          </a:p>
        </p:txBody>
      </p:sp>
      <p:sp>
        <p:nvSpPr>
          <p:cNvPr id="9" name="AI"/>
          <p:cNvSpPr/>
          <p:nvPr/>
        </p:nvSpPr>
        <p:spPr>
          <a:xfrm>
            <a:off x="4562475" y="8158394"/>
            <a:ext cx="915380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dirty="0">
                <a:solidFill>
                  <a:srgbClr val="5D5D5D"/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  <a:cs typeface="MiSans Regular" pitchFamily="34" charset="-120"/>
              </a:rPr>
              <a:t>传统金融 × 链上基础设施 × AI 时代支付基础层</a:t>
            </a:r>
            <a:endParaRPr lang="en-US" sz="2400" dirty="0">
              <a:latin typeface="方正黑体繁体" panose="02010601030101010101" pitchFamily="2" charset="-122"/>
              <a:ea typeface="方正黑体繁体" panose="02010601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6128033" y="1"/>
            <a:ext cx="2164566" cy="4586288"/>
          </a:xfrm>
          <a:prstGeom prst="rect">
            <a:avLst/>
          </a:prstGeom>
          <a:gradFill>
            <a:gsLst>
              <a:gs pos="0">
                <a:srgbClr val="9DFA34"/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137160" tIns="68580" rIns="137160" bIns="6858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700">
              <a:cs typeface="+mn-ea"/>
              <a:sym typeface="+mn-lt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250877" y="764030"/>
            <a:ext cx="12868275" cy="230832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lstStyle/>
          <a:p>
            <a:pPr algn="r"/>
            <a:r>
              <a:rPr lang="zh-CN" altLang="en-US" sz="14400" cap="all" dirty="0">
                <a:gradFill>
                  <a:gsLst>
                    <a:gs pos="0">
                      <a:schemeClr val="bg1">
                        <a:alpha val="7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  <a:latin typeface="汉仪菱心体简" charset="-122"/>
                <a:ea typeface="汉仪菱心体简" charset="-122"/>
              </a:rPr>
              <a:t>Conten</a:t>
            </a:r>
            <a:r>
              <a:rPr lang="en-US" altLang="zh-CN" sz="14400" cap="all" dirty="0">
                <a:gradFill>
                  <a:gsLst>
                    <a:gs pos="0">
                      <a:schemeClr val="bg1">
                        <a:alpha val="7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  <a:latin typeface="汉仪菱心体简" charset="-122"/>
                <a:ea typeface="汉仪菱心体简" charset="-122"/>
              </a:rPr>
              <a:t>T</a:t>
            </a:r>
            <a:r>
              <a:rPr lang="zh-CN" altLang="en-US" sz="14400" cap="all" dirty="0">
                <a:gradFill>
                  <a:gsLst>
                    <a:gs pos="0">
                      <a:schemeClr val="bg1">
                        <a:alpha val="7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2700000" scaled="0"/>
                </a:gradFill>
                <a:latin typeface="汉仪菱心体简" charset="-122"/>
                <a:ea typeface="汉仪菱心体简" charset="-122"/>
              </a:rPr>
              <a:t>s</a:t>
            </a:r>
          </a:p>
        </p:txBody>
      </p:sp>
      <p:sp>
        <p:nvSpPr>
          <p:cNvPr id="36" name="对角圆角矩形 35"/>
          <p:cNvSpPr/>
          <p:nvPr/>
        </p:nvSpPr>
        <p:spPr>
          <a:xfrm>
            <a:off x="8462130" y="3073842"/>
            <a:ext cx="7656195" cy="11239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汉仪菱心体简" charset="-122"/>
              <a:ea typeface="汉仪菱心体简" charset="-122"/>
            </a:endParaRPr>
          </a:p>
        </p:txBody>
      </p:sp>
      <p:sp>
        <p:nvSpPr>
          <p:cNvPr id="21" name="单圆角矩形 20"/>
          <p:cNvSpPr/>
          <p:nvPr/>
        </p:nvSpPr>
        <p:spPr>
          <a:xfrm>
            <a:off x="8006835" y="3073842"/>
            <a:ext cx="1356360" cy="1123950"/>
          </a:xfrm>
          <a:prstGeom prst="round1Rect">
            <a:avLst>
              <a:gd name="adj" fmla="val 20254"/>
            </a:avLst>
          </a:prstGeom>
          <a:solidFill>
            <a:srgbClr val="93EE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汉仪菱心体简" charset="-122"/>
              <a:ea typeface="汉仪菱心体简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042726" y="3251999"/>
            <a:ext cx="1255395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200" dirty="0">
                <a:latin typeface="汉仪菱心体简" charset="-122"/>
                <a:ea typeface="汉仪菱心体简" charset="-122"/>
              </a:rPr>
              <a:t>01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9840741" y="3295775"/>
            <a:ext cx="3945597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ENIPAY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生态问答</a:t>
            </a:r>
          </a:p>
        </p:txBody>
      </p:sp>
      <p:sp>
        <p:nvSpPr>
          <p:cNvPr id="27" name="对角圆角矩形 26"/>
          <p:cNvSpPr/>
          <p:nvPr/>
        </p:nvSpPr>
        <p:spPr>
          <a:xfrm>
            <a:off x="8462130" y="5680584"/>
            <a:ext cx="7656195" cy="11239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+mn-ea"/>
            </a:endParaRPr>
          </a:p>
        </p:txBody>
      </p:sp>
      <p:sp>
        <p:nvSpPr>
          <p:cNvPr id="29" name="单圆角矩形 28"/>
          <p:cNvSpPr/>
          <p:nvPr/>
        </p:nvSpPr>
        <p:spPr>
          <a:xfrm>
            <a:off x="8006835" y="5680584"/>
            <a:ext cx="1356360" cy="1123950"/>
          </a:xfrm>
          <a:prstGeom prst="round1Rect">
            <a:avLst>
              <a:gd name="adj" fmla="val 24406"/>
            </a:avLst>
          </a:prstGeom>
          <a:solidFill>
            <a:srgbClr val="93EE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汉仪菱心体简" charset="-122"/>
              <a:ea typeface="汉仪菱心体简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042726" y="5858741"/>
            <a:ext cx="1255395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200" dirty="0">
                <a:latin typeface="汉仪菱心体简" charset="-122"/>
                <a:ea typeface="汉仪菱心体简" charset="-122"/>
              </a:rPr>
              <a:t>03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840741" y="5902517"/>
            <a:ext cx="4888133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APP &amp; DAPP 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问答</a:t>
            </a:r>
          </a:p>
        </p:txBody>
      </p:sp>
      <p:sp>
        <p:nvSpPr>
          <p:cNvPr id="34" name="对角圆角矩形 33"/>
          <p:cNvSpPr/>
          <p:nvPr/>
        </p:nvSpPr>
        <p:spPr>
          <a:xfrm>
            <a:off x="8462130" y="7056947"/>
            <a:ext cx="7656195" cy="11239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汉仪菱心体简" charset="-122"/>
              <a:ea typeface="汉仪菱心体简" charset="-122"/>
            </a:endParaRPr>
          </a:p>
        </p:txBody>
      </p:sp>
      <p:sp>
        <p:nvSpPr>
          <p:cNvPr id="35" name="单圆角矩形 34"/>
          <p:cNvSpPr/>
          <p:nvPr/>
        </p:nvSpPr>
        <p:spPr>
          <a:xfrm>
            <a:off x="8006835" y="7056947"/>
            <a:ext cx="1356360" cy="1123950"/>
          </a:xfrm>
          <a:prstGeom prst="round1Rect">
            <a:avLst>
              <a:gd name="adj" fmla="val 22457"/>
            </a:avLst>
          </a:prstGeom>
          <a:solidFill>
            <a:srgbClr val="93EE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汉仪菱心体简" charset="-122"/>
              <a:ea typeface="汉仪菱心体简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042726" y="7235103"/>
            <a:ext cx="1255395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200" dirty="0">
                <a:latin typeface="汉仪菱心体简" charset="-122"/>
                <a:ea typeface="汉仪菱心体简" charset="-122"/>
              </a:rPr>
              <a:t>04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9840741" y="7278879"/>
            <a:ext cx="5516417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ENI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公链生态问答</a:t>
            </a:r>
            <a:endParaRPr sz="3600" dirty="0">
              <a:solidFill>
                <a:schemeClr val="tx1">
                  <a:lumMod val="75000"/>
                  <a:lumOff val="25000"/>
                </a:schemeClr>
              </a:solidFill>
              <a:latin typeface="方正黑体繁体" panose="02010601030101010101" pitchFamily="2" charset="-122"/>
              <a:ea typeface="方正黑体繁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64563" y="4375298"/>
            <a:ext cx="4057650" cy="1813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2000" dirty="0">
                <a:latin typeface="方正大黑繁体" panose="03000509000000000000" pitchFamily="65" charset="-122"/>
                <a:ea typeface="方正大黑繁体" panose="03000509000000000000" pitchFamily="65" charset="-122"/>
                <a:sym typeface="+mn-ea"/>
              </a:rPr>
              <a:t>目录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16817340" y="850877"/>
            <a:ext cx="600075" cy="167640"/>
            <a:chOff x="16910" y="1097"/>
            <a:chExt cx="1050" cy="176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16910" y="1097"/>
              <a:ext cx="1050" cy="0"/>
            </a:xfrm>
            <a:prstGeom prst="line">
              <a:avLst/>
            </a:prstGeom>
            <a:ln w="444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7335" y="1273"/>
              <a:ext cx="625" cy="0"/>
            </a:xfrm>
            <a:prstGeom prst="line">
              <a:avLst/>
            </a:prstGeom>
            <a:ln w="444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矩形 74"/>
          <p:cNvSpPr/>
          <p:nvPr/>
        </p:nvSpPr>
        <p:spPr>
          <a:xfrm>
            <a:off x="1" y="9153740"/>
            <a:ext cx="18287048" cy="1134000"/>
          </a:xfrm>
          <a:prstGeom prst="rect">
            <a:avLst/>
          </a:prstGeom>
          <a:gradFill>
            <a:gsLst>
              <a:gs pos="53000">
                <a:srgbClr val="9DFA34"/>
              </a:gs>
              <a:gs pos="100000">
                <a:srgbClr val="9DFA3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700">
              <a:sym typeface="+mn-ea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15357158" y="9558815"/>
            <a:ext cx="2100263" cy="323850"/>
            <a:chOff x="16123" y="9760"/>
            <a:chExt cx="2205" cy="340"/>
          </a:xfrm>
        </p:grpSpPr>
        <p:grpSp>
          <p:nvGrpSpPr>
            <p:cNvPr id="77" name="组合 76"/>
            <p:cNvGrpSpPr/>
            <p:nvPr/>
          </p:nvGrpSpPr>
          <p:grpSpPr>
            <a:xfrm>
              <a:off x="17356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78" name="燕尾形 77"/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79" name="燕尾形 78"/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80" name="燕尾形 79"/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81" name="燕尾形 80"/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16123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83" name="燕尾形 82"/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84" name="燕尾形 83"/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85" name="燕尾形 84"/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86" name="燕尾形 85"/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</p:grpSp>
      <p:sp>
        <p:nvSpPr>
          <p:cNvPr id="4" name="标题 1"/>
          <p:cNvSpPr txBox="1"/>
          <p:nvPr/>
        </p:nvSpPr>
        <p:spPr>
          <a:xfrm>
            <a:off x="-8043" y="-6969"/>
            <a:ext cx="2164566" cy="4586288"/>
          </a:xfrm>
          <a:prstGeom prst="rect">
            <a:avLst/>
          </a:prstGeom>
          <a:gradFill>
            <a:gsLst>
              <a:gs pos="0">
                <a:srgbClr val="9DFA34"/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137160" tIns="68580" rIns="137160" bIns="6858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700">
              <a:cs typeface="+mn-ea"/>
              <a:sym typeface="+mn-lt"/>
            </a:endParaRPr>
          </a:p>
        </p:txBody>
      </p:sp>
      <p:sp>
        <p:nvSpPr>
          <p:cNvPr id="6" name="对角圆角矩形 26"/>
          <p:cNvSpPr/>
          <p:nvPr/>
        </p:nvSpPr>
        <p:spPr>
          <a:xfrm>
            <a:off x="8462130" y="4375047"/>
            <a:ext cx="7656195" cy="11239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7000" dist="127000" dir="2700000" algn="tl" rotWithShape="0">
              <a:srgbClr val="2E95D4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+mn-ea"/>
            </a:endParaRPr>
          </a:p>
        </p:txBody>
      </p:sp>
      <p:sp>
        <p:nvSpPr>
          <p:cNvPr id="10" name="单圆角矩形 28"/>
          <p:cNvSpPr/>
          <p:nvPr/>
        </p:nvSpPr>
        <p:spPr>
          <a:xfrm>
            <a:off x="8006835" y="4375047"/>
            <a:ext cx="1356360" cy="1123950"/>
          </a:xfrm>
          <a:prstGeom prst="round1Rect">
            <a:avLst>
              <a:gd name="adj" fmla="val 24406"/>
            </a:avLst>
          </a:prstGeom>
          <a:solidFill>
            <a:srgbClr val="93EE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汉仪菱心体简" charset="-122"/>
              <a:ea typeface="汉仪菱心体简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2726" y="4553204"/>
            <a:ext cx="1255395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200" dirty="0">
                <a:latin typeface="汉仪菱心体简" charset="-122"/>
                <a:ea typeface="汉仪菱心体简" charset="-122"/>
              </a:rPr>
              <a:t>02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840741" y="4596980"/>
            <a:ext cx="4142545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EPAY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超级生态问答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方正黑体繁体" panose="02010601030101010101" pitchFamily="2" charset="-122"/>
              <a:ea typeface="方正黑体繁体" panose="02010601030101010101" pitchFamily="2" charset="-122"/>
              <a:cs typeface="汉仪菱心体简" charset="-122"/>
            </a:endParaRPr>
          </a:p>
        </p:txBody>
      </p:sp>
      <p:pic>
        <p:nvPicPr>
          <p:cNvPr id="14" name="Frame 35" descr="preencoded.png">
            <a:extLst>
              <a:ext uri="{FF2B5EF4-FFF2-40B4-BE49-F238E27FC236}">
                <a16:creationId xmlns:a16="http://schemas.microsoft.com/office/drawing/2014/main" id="{A808E2EE-D32C-AC6A-9F7C-B8C360E60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433176" y="9482644"/>
            <a:ext cx="2703919" cy="532464"/>
          </a:xfrm>
          <a:prstGeom prst="rect">
            <a:avLst/>
          </a:prstGeom>
        </p:spPr>
      </p:pic>
      <p:pic>
        <p:nvPicPr>
          <p:cNvPr id="16" name="图片 15" descr="图片包含 文本&#10;&#10;AI 生成的内容可能不正确。">
            <a:extLst>
              <a:ext uri="{FF2B5EF4-FFF2-40B4-BE49-F238E27FC236}">
                <a16:creationId xmlns:a16="http://schemas.microsoft.com/office/drawing/2014/main" id="{33B8E362-EF2B-D3C7-D57C-A01FEE85D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2832" y="9444039"/>
            <a:ext cx="1889536" cy="5834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4745DF01-D12E-E6EF-0CFF-53A7E4FE4E89}"/>
              </a:ext>
            </a:extLst>
          </p:cNvPr>
          <p:cNvSpPr txBox="1"/>
          <p:nvPr/>
        </p:nvSpPr>
        <p:spPr>
          <a:xfrm rot="10800000">
            <a:off x="-1" y="7498080"/>
            <a:ext cx="18281524" cy="2788920"/>
          </a:xfrm>
          <a:prstGeom prst="rect">
            <a:avLst/>
          </a:prstGeom>
          <a:gradFill>
            <a:gsLst>
              <a:gs pos="0">
                <a:srgbClr val="93EE2C">
                  <a:alpha val="48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69195C-4423-D9C9-F297-036BE7BF2D1E}"/>
              </a:ext>
            </a:extLst>
          </p:cNvPr>
          <p:cNvSpPr/>
          <p:nvPr/>
        </p:nvSpPr>
        <p:spPr>
          <a:xfrm>
            <a:off x="1" y="9153740"/>
            <a:ext cx="18287048" cy="1134000"/>
          </a:xfrm>
          <a:prstGeom prst="rect">
            <a:avLst/>
          </a:prstGeom>
          <a:gradFill>
            <a:gsLst>
              <a:gs pos="53000">
                <a:srgbClr val="9DFA34"/>
              </a:gs>
              <a:gs pos="100000">
                <a:srgbClr val="9DFA3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700">
              <a:sym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7659F71-6DB4-8CDF-846C-B460A36ADA81}"/>
              </a:ext>
            </a:extLst>
          </p:cNvPr>
          <p:cNvGrpSpPr/>
          <p:nvPr/>
        </p:nvGrpSpPr>
        <p:grpSpPr>
          <a:xfrm>
            <a:off x="15357158" y="9558815"/>
            <a:ext cx="2100263" cy="323850"/>
            <a:chOff x="16123" y="9760"/>
            <a:chExt cx="2205" cy="340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C425604-AEAF-4234-614B-E941745ECC21}"/>
                </a:ext>
              </a:extLst>
            </p:cNvPr>
            <p:cNvGrpSpPr/>
            <p:nvPr/>
          </p:nvGrpSpPr>
          <p:grpSpPr>
            <a:xfrm>
              <a:off x="17356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21" name="燕尾形 77">
                <a:extLst>
                  <a:ext uri="{FF2B5EF4-FFF2-40B4-BE49-F238E27FC236}">
                    <a16:creationId xmlns:a16="http://schemas.microsoft.com/office/drawing/2014/main" id="{76B3AD4E-CB83-78F5-9862-536B3461CEF2}"/>
                  </a:ext>
                </a:extLst>
              </p:cNvPr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2" name="燕尾形 78">
                <a:extLst>
                  <a:ext uri="{FF2B5EF4-FFF2-40B4-BE49-F238E27FC236}">
                    <a16:creationId xmlns:a16="http://schemas.microsoft.com/office/drawing/2014/main" id="{50DD967F-CE08-1C60-3921-1768C6FCD9C7}"/>
                  </a:ext>
                </a:extLst>
              </p:cNvPr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3" name="燕尾形 79">
                <a:extLst>
                  <a:ext uri="{FF2B5EF4-FFF2-40B4-BE49-F238E27FC236}">
                    <a16:creationId xmlns:a16="http://schemas.microsoft.com/office/drawing/2014/main" id="{BD1BC1B2-A85C-56F0-8D07-20C1475CFFDE}"/>
                  </a:ext>
                </a:extLst>
              </p:cNvPr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4" name="燕尾形 80">
                <a:extLst>
                  <a:ext uri="{FF2B5EF4-FFF2-40B4-BE49-F238E27FC236}">
                    <a16:creationId xmlns:a16="http://schemas.microsoft.com/office/drawing/2014/main" id="{D7374070-60A1-59BD-5FC8-6A3B44F1713D}"/>
                  </a:ext>
                </a:extLst>
              </p:cNvPr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B0DF6F3-7491-3268-3A25-37CE95536AA7}"/>
                </a:ext>
              </a:extLst>
            </p:cNvPr>
            <p:cNvGrpSpPr/>
            <p:nvPr/>
          </p:nvGrpSpPr>
          <p:grpSpPr>
            <a:xfrm>
              <a:off x="16123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17" name="燕尾形 82">
                <a:extLst>
                  <a:ext uri="{FF2B5EF4-FFF2-40B4-BE49-F238E27FC236}">
                    <a16:creationId xmlns:a16="http://schemas.microsoft.com/office/drawing/2014/main" id="{1A8CED09-EB1C-CBA9-CE41-A88A68544B82}"/>
                  </a:ext>
                </a:extLst>
              </p:cNvPr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8" name="燕尾形 83">
                <a:extLst>
                  <a:ext uri="{FF2B5EF4-FFF2-40B4-BE49-F238E27FC236}">
                    <a16:creationId xmlns:a16="http://schemas.microsoft.com/office/drawing/2014/main" id="{823DC340-6A2C-667C-5751-C53DCC717C88}"/>
                  </a:ext>
                </a:extLst>
              </p:cNvPr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9" name="燕尾形 84">
                <a:extLst>
                  <a:ext uri="{FF2B5EF4-FFF2-40B4-BE49-F238E27FC236}">
                    <a16:creationId xmlns:a16="http://schemas.microsoft.com/office/drawing/2014/main" id="{FF990B44-52A1-E595-C4F1-50E4319D98EF}"/>
                  </a:ext>
                </a:extLst>
              </p:cNvPr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0" name="燕尾形 85">
                <a:extLst>
                  <a:ext uri="{FF2B5EF4-FFF2-40B4-BE49-F238E27FC236}">
                    <a16:creationId xmlns:a16="http://schemas.microsoft.com/office/drawing/2014/main" id="{2A845869-F671-D778-070D-7A7EEFDD87A8}"/>
                  </a:ext>
                </a:extLst>
              </p:cNvPr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</p:grpSp>
      <p:pic>
        <p:nvPicPr>
          <p:cNvPr id="25" name="Frame 35" descr="preencoded.png">
            <a:extLst>
              <a:ext uri="{FF2B5EF4-FFF2-40B4-BE49-F238E27FC236}">
                <a16:creationId xmlns:a16="http://schemas.microsoft.com/office/drawing/2014/main" id="{854D6469-D587-664C-819C-AE29ADF59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33176" y="9482644"/>
            <a:ext cx="2703919" cy="532464"/>
          </a:xfrm>
          <a:prstGeom prst="rect">
            <a:avLst/>
          </a:prstGeom>
        </p:spPr>
      </p:pic>
      <p:pic>
        <p:nvPicPr>
          <p:cNvPr id="26" name="图片 25" descr="图片包含 文本&#10;&#10;AI 生成的内容可能不正确。">
            <a:extLst>
              <a:ext uri="{FF2B5EF4-FFF2-40B4-BE49-F238E27FC236}">
                <a16:creationId xmlns:a16="http://schemas.microsoft.com/office/drawing/2014/main" id="{A47C2681-E633-9B9E-35A3-2372D5028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2832" y="9444039"/>
            <a:ext cx="1889536" cy="5834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D8E86E-744C-7B0C-D6D3-D85A31D790A1}"/>
              </a:ext>
            </a:extLst>
          </p:cNvPr>
          <p:cNvSpPr/>
          <p:nvPr/>
        </p:nvSpPr>
        <p:spPr bwMode="auto">
          <a:xfrm>
            <a:off x="6720827" y="4824512"/>
            <a:ext cx="6835571" cy="494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dist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rial" panose="020B0604020202090204" pitchFamily="34" charset="0"/>
                <a:ea typeface="+mn-ea"/>
                <a:cs typeface="+mn-ea"/>
                <a:sym typeface="Helvetica" pitchFamily="34" charset="0"/>
              </a:rPr>
              <a:t>ENIPAY Eco Q&amp;A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9F198F-CD67-FBCD-EF2C-D55B9F85EFDE}"/>
              </a:ext>
            </a:extLst>
          </p:cNvPr>
          <p:cNvSpPr/>
          <p:nvPr/>
        </p:nvSpPr>
        <p:spPr>
          <a:xfrm>
            <a:off x="6580024" y="3652706"/>
            <a:ext cx="725390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ENIPAY</a:t>
            </a: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生态问答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2F1512A-2FC4-63A7-148F-3135EE3687B3}"/>
              </a:ext>
            </a:extLst>
          </p:cNvPr>
          <p:cNvSpPr/>
          <p:nvPr/>
        </p:nvSpPr>
        <p:spPr>
          <a:xfrm>
            <a:off x="4223353" y="3616228"/>
            <a:ext cx="1656650" cy="1656648"/>
          </a:xfrm>
          <a:prstGeom prst="ellipse">
            <a:avLst/>
          </a:prstGeom>
          <a:gradFill flip="none" rotWithShape="1">
            <a:gsLst>
              <a:gs pos="0">
                <a:srgbClr val="93EE2C"/>
              </a:gs>
              <a:gs pos="100000">
                <a:srgbClr val="9DFA3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41069B-C49D-E177-91C3-6CD65E377BE5}"/>
              </a:ext>
            </a:extLst>
          </p:cNvPr>
          <p:cNvSpPr/>
          <p:nvPr/>
        </p:nvSpPr>
        <p:spPr>
          <a:xfrm>
            <a:off x="4606682" y="3941856"/>
            <a:ext cx="889987" cy="10156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latin typeface="Impact" panose="020B0806030902050204" pitchFamily="34" charset="0"/>
                <a:cs typeface="+mn-ea"/>
              </a:rPr>
              <a:t>01</a:t>
            </a:r>
            <a:endParaRPr lang="zh-CN" altLang="en-US" sz="6000" dirty="0">
              <a:latin typeface="Impact" panose="020B0806030902050204" pitchFamily="34" charset="0"/>
              <a:cs typeface="+mn-ea"/>
            </a:endParaRPr>
          </a:p>
        </p:txBody>
      </p:sp>
      <p:sp>
        <p:nvSpPr>
          <p:cNvPr id="8" name="圆角矩形 10">
            <a:extLst>
              <a:ext uri="{FF2B5EF4-FFF2-40B4-BE49-F238E27FC236}">
                <a16:creationId xmlns:a16="http://schemas.microsoft.com/office/drawing/2014/main" id="{3AB20D23-4193-14BB-E21E-5E0E8182800F}"/>
              </a:ext>
            </a:extLst>
          </p:cNvPr>
          <p:cNvSpPr/>
          <p:nvPr/>
        </p:nvSpPr>
        <p:spPr>
          <a:xfrm>
            <a:off x="4223354" y="5650412"/>
            <a:ext cx="1656650" cy="334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srgbClr val="134499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cs typeface="+mn-ea"/>
              </a:rPr>
              <a:t>PART ONE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51D6626-D9F0-53FE-36D8-FE719B83D3EB}"/>
              </a:ext>
            </a:extLst>
          </p:cNvPr>
          <p:cNvSpPr txBox="1"/>
          <p:nvPr/>
        </p:nvSpPr>
        <p:spPr>
          <a:xfrm>
            <a:off x="6621503" y="5355848"/>
            <a:ext cx="4414339" cy="12445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5400" dirty="0">
                <a:ln w="12700">
                  <a:gradFill flip="none" rotWithShape="1">
                    <a:gsLst>
                      <a:gs pos="0">
                        <a:schemeClr val="accent6">
                          <a:lumMod val="67000"/>
                        </a:schemeClr>
                      </a:gs>
                      <a:gs pos="48000">
                        <a:schemeClr val="accent6">
                          <a:lumMod val="97000"/>
                          <a:lumOff val="3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Arial Black" panose="020B0A04020102020204" pitchFamily="34" charset="0"/>
                <a:cs typeface="+mn-ea"/>
                <a:sym typeface="+mn-lt"/>
              </a:rPr>
              <a:t>ENIPAY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6A4A880-E7B7-5FD8-BD43-5CD02536E7DF}"/>
              </a:ext>
            </a:extLst>
          </p:cNvPr>
          <p:cNvSpPr txBox="1"/>
          <p:nvPr/>
        </p:nvSpPr>
        <p:spPr>
          <a:xfrm>
            <a:off x="4317024" y="6359060"/>
            <a:ext cx="9239374" cy="5904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61AA6E31-55BF-D12D-D868-2ECABB9252B8}"/>
              </a:ext>
            </a:extLst>
          </p:cNvPr>
          <p:cNvSpPr txBox="1"/>
          <p:nvPr/>
        </p:nvSpPr>
        <p:spPr>
          <a:xfrm rot="5400000">
            <a:off x="12877260" y="5407821"/>
            <a:ext cx="436545" cy="921730"/>
          </a:xfrm>
          <a:custGeom>
            <a:avLst/>
            <a:gdLst>
              <a:gd name="connsiteX0" fmla="*/ 0 w 556970"/>
              <a:gd name="connsiteY0" fmla="*/ 479483 h 1175997"/>
              <a:gd name="connsiteX1" fmla="*/ 278101 w 556970"/>
              <a:gd name="connsiteY1" fmla="*/ 0 h 1175997"/>
              <a:gd name="connsiteX2" fmla="*/ 556201 w 556970"/>
              <a:gd name="connsiteY2" fmla="*/ 479483 h 1175997"/>
              <a:gd name="connsiteX3" fmla="*/ 344358 w 556970"/>
              <a:gd name="connsiteY3" fmla="*/ 479483 h 1175997"/>
              <a:gd name="connsiteX4" fmla="*/ 556586 w 556970"/>
              <a:gd name="connsiteY4" fmla="*/ 845394 h 1175997"/>
              <a:gd name="connsiteX5" fmla="*/ 365220 w 556970"/>
              <a:gd name="connsiteY5" fmla="*/ 845394 h 1175997"/>
              <a:gd name="connsiteX6" fmla="*/ 556970 w 556970"/>
              <a:gd name="connsiteY6" fmla="*/ 1175997 h 1175997"/>
              <a:gd name="connsiteX7" fmla="*/ 768 w 556970"/>
              <a:gd name="connsiteY7" fmla="*/ 1175997 h 1175997"/>
              <a:gd name="connsiteX8" fmla="*/ 192518 w 556970"/>
              <a:gd name="connsiteY8" fmla="*/ 845394 h 1175997"/>
              <a:gd name="connsiteX9" fmla="*/ 384 w 556970"/>
              <a:gd name="connsiteY9" fmla="*/ 845394 h 1175997"/>
              <a:gd name="connsiteX10" fmla="*/ 212613 w 556970"/>
              <a:gd name="connsiteY10" fmla="*/ 479483 h 1175997"/>
            </a:gdLst>
            <a:ahLst/>
            <a:cxnLst/>
            <a:rect l="l" t="t" r="r" b="b"/>
            <a:pathLst>
              <a:path w="556970" h="1175997">
                <a:moveTo>
                  <a:pt x="0" y="479483"/>
                </a:moveTo>
                <a:lnTo>
                  <a:pt x="278101" y="0"/>
                </a:lnTo>
                <a:lnTo>
                  <a:pt x="556201" y="479483"/>
                </a:lnTo>
                <a:lnTo>
                  <a:pt x="344358" y="479483"/>
                </a:lnTo>
                <a:lnTo>
                  <a:pt x="556586" y="845394"/>
                </a:lnTo>
                <a:lnTo>
                  <a:pt x="365220" y="845394"/>
                </a:lnTo>
                <a:lnTo>
                  <a:pt x="556970" y="1175997"/>
                </a:lnTo>
                <a:lnTo>
                  <a:pt x="768" y="1175997"/>
                </a:lnTo>
                <a:lnTo>
                  <a:pt x="192518" y="845394"/>
                </a:lnTo>
                <a:lnTo>
                  <a:pt x="384" y="845394"/>
                </a:lnTo>
                <a:lnTo>
                  <a:pt x="212613" y="479483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4000">
                <a:srgbClr val="9DFA34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621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B570B1-0542-9A3E-ACF2-A0474B7DFE4E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32DA16-DF06-111C-BC68-DB71837F4148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ENIPAY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C2DE740-2266-8EFE-7D75-D2C9578C2858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Q1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CN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ENIPAY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是什麼？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A5D5C1-4F1C-A3E3-BF4A-A615DB38AE91}"/>
              </a:ext>
            </a:extLst>
          </p:cNvPr>
          <p:cNvSpPr txBox="1"/>
          <p:nvPr/>
        </p:nvSpPr>
        <p:spPr>
          <a:xfrm>
            <a:off x="1959307" y="4132124"/>
            <a:ext cx="8369716" cy="447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是基於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公鏈打造的新一代全球數字支付網絡，專爲人類用戶與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設計。平颱整合穩定幣賬戶、全球支付、鏈上結算與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自主支付能力，讓數字資産真正進入現實消費場景。用戶不僅可以通過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Visa/Mastercard U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卡完成全球線上線下消費，還可以實現掃碼支付、跨境轉賬、企業結算等功能。同時，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還構建了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鏈上金融生態與收益體繫，讓資産不僅能支付，還能持續增值，真正實現“支付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+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金融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+ AI”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三位一體的全球支付生態。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C0CB865-A19E-7F65-2CA4-3296A8881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4177" y="133350"/>
            <a:ext cx="5786438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4113-44E0-AD30-C9B5-242B86A2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220A2A9-C0B1-F2C5-BE45-EB1D62A8DBE9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4E974F-B2AB-AB0A-C17F-57A9B3074C68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ENIPAY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66C493C-488C-F8D0-09BC-065CC30F6026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2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ENIPAY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解決了支付的哪些痛點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11113E-8042-B534-366E-3F12ED345034}"/>
              </a:ext>
            </a:extLst>
          </p:cNvPr>
          <p:cNvSpPr txBox="1"/>
          <p:nvPr/>
        </p:nvSpPr>
        <p:spPr>
          <a:xfrm>
            <a:off x="1959307" y="4132124"/>
            <a:ext cx="8369716" cy="447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傳統支付體繫存在跨境慢、手續費高、到賬週期長等問題，而加密支付雖然效率高，卻缺乏真實消費場景。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正是爲了解決“數字資産無法真正消費”的行業痛點。平颱打通了鏈上資産、現實消費與全球支付網絡，讓穩定幣能夠像法幣一樣進行線上購物、線下消費、掃碼支付和跨境結算。同時，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還支持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獨立支付能力，使未來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能夠自動完成支付、訂閱與交易，真正開啟“人類與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共用支付網絡”的新時代。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016C5D-F5FF-6F09-896F-225464CD6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4177" y="0"/>
            <a:ext cx="5786438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1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587B5-E65C-2489-9244-87E585947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4823304-50F1-D116-5E38-B71BC56438C5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908761-E25E-F7B8-79C2-5F723BE75BDE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ENIPAY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A166727-11FE-2A70-BA71-61BA59091E9E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3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、爲什麼選擇“支付”作爲核心入口？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8F52E5-D829-B53C-6B4F-7D1C62091D55}"/>
              </a:ext>
            </a:extLst>
          </p:cNvPr>
          <p:cNvSpPr txBox="1"/>
          <p:nvPr/>
        </p:nvSpPr>
        <p:spPr>
          <a:xfrm>
            <a:off x="1959307" y="4417775"/>
            <a:ext cx="8369716" cy="3921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支付是全球最大的剛需場景，也是連接鏈上資産與現實世界最核心的橋梁。很多公鏈隻停留在交易和投機層，缺少真實應用場景，而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通過支付切入，可以讓數字資産真正實現流通與使用。用戶通過消費産生真實流量，平颱再通過金融繫統沉淀資金，形成完整價值閉環。隨着穩定幣逐漸成爲全球新一代結算貨幣，支付將成爲未來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Web3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最大的入口，而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正是在打造下一代全球數字支付基礎設施。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1CF12C-8982-3FEA-1A9B-86BAC742D6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197" b="25299"/>
          <a:stretch/>
        </p:blipFill>
        <p:spPr>
          <a:xfrm>
            <a:off x="10058401" y="1610873"/>
            <a:ext cx="7942182" cy="813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72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E36F-14D9-38C9-87D8-EFEA809F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FADDCCB-734A-A057-6F54-87EF7A256EB5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99E8DA-446A-CC4D-6628-908C3BCC3F3D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ENIPAY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FADC022-820F-68F2-8900-C1B2308350CC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Q4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ENIPAY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和傳統支付平颱有什麼不同？</a:t>
            </a:r>
            <a:endParaRPr lang="zh-CN" altLang="en-US" sz="3200" dirty="0">
              <a:solidFill>
                <a:schemeClr val="tx1"/>
              </a:solidFill>
              <a:latin typeface="苹方 特粗" panose="020B0800000000000000" pitchFamily="34" charset="-122"/>
              <a:ea typeface="苹方 特粗" panose="020B08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EADBA7-1F82-57C1-DA6E-E38CFB44B467}"/>
              </a:ext>
            </a:extLst>
          </p:cNvPr>
          <p:cNvSpPr txBox="1"/>
          <p:nvPr/>
        </p:nvSpPr>
        <p:spPr>
          <a:xfrm>
            <a:off x="1959307" y="4417775"/>
            <a:ext cx="8369716" cy="3921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傳統支付平颱主要依賴銀行與卡組織清算體繫，存在效率低、跨境限製多、手續費高等問題。而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基於區塊鏈與穩定幣體繫，能夠實現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7×24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小時全球實時結算，大幅降低跨境支付成本。同時，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不隻是支付工具，更融合了鏈上金融、收益繫統與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支付能力。相比傳統平颱隻能服務“人”，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同時支持“人類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+ AI Agent”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共同使用，未來不僅是用戶在支付，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也能自動完成支付與交易。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E3AC26-FB5A-1B77-C653-0AAF7D83B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-482676"/>
            <a:ext cx="6589352" cy="1171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7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B8C12-1983-0DBE-4E73-216F27B83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CF6A5F-0D7B-323D-F2A8-3F29BC1834D2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186A9F-3CE6-805B-49C4-F10C5F0C6C0B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ENIPAY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D55903F-80D8-A1B5-293F-482F77F4153C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Q5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CN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ENIPAY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支持哪些支付方式？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322F9A-850F-F32C-2C79-B035E232EDD2}"/>
              </a:ext>
            </a:extLst>
          </p:cNvPr>
          <p:cNvSpPr txBox="1"/>
          <p:nvPr/>
        </p:nvSpPr>
        <p:spPr>
          <a:xfrm>
            <a:off x="1959307" y="4177051"/>
            <a:ext cx="8369716" cy="447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支持多種全球化支付方式，包括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Visa/Mastercard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虛擬卡、實體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U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卡、穩定幣支付、二維碼掃碼支付以及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自動支付。用戶可直接使用穩定幣餘額完成全球線上購物、線下刷卡、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ATM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取現以及跨境消費。同時，平颱還支持東南亞五國掃碼支付網絡，並持續擴展全球二維碼支付體繫。未來，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還將支持更多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原生支付協議，讓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可以自動完成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API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調用、服務訂閱與商品購買，真正實現智能化支付生態。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0CEE2E-216F-6B33-12D7-6BE9434EC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9023" y="0"/>
            <a:ext cx="6763806" cy="1202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CFFFE-DE08-666A-4EA5-0389DCB73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2DF6329-7FA3-29E5-EEC1-D2550CFE5563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00350A-3749-434C-2888-76F382978E4F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ENIPAY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CB2A7DA-6E6A-3EDD-0167-3577FEAFBE47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Q6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、爲什麼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ENIPAY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支持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AI Agent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支付？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E78AF5-0161-1F25-C790-09833584B6D5}"/>
              </a:ext>
            </a:extLst>
          </p:cNvPr>
          <p:cNvSpPr txBox="1"/>
          <p:nvPr/>
        </p:nvSpPr>
        <p:spPr>
          <a:xfrm>
            <a:off x="1959307" y="4140776"/>
            <a:ext cx="8369716" cy="447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不隻是聊天工具，而是能夠幫助用戶自動完成交易、訂閱、購物與商業協作的數字智能體。但目前全球支付體繫並不適合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使用，因爲傳統支付必須依賴人工授權。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爲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提供了獨立支付身份、權限管理與雙軌支付通道，包括鏈上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x402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協議支付與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專用信用卡體繫。未來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可以自動完成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API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調用、商品購買以及任務支付，讓機器真正具備“自主消費能力”，這是未來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經濟的重要基礎設施。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AD4E90-0AF1-E24D-B215-307B3B706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302" y="130257"/>
            <a:ext cx="6539096" cy="116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5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D074B-D69B-8A4B-810C-090694EB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2A76A05-5060-F133-17D7-6A36135A15D5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282F5A-2A12-32B6-1033-F6B0CE04FF27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ENIPAY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7223172-0AA5-4DDF-DE2E-E81396D7226C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Q7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ENIPAY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未來會有哪些生態擴展？</a:t>
            </a:r>
            <a:endParaRPr lang="zh-CN" altLang="en-US" sz="3200" dirty="0">
              <a:solidFill>
                <a:schemeClr val="tx1"/>
              </a:solidFill>
              <a:latin typeface="苹方 特粗" panose="020B0800000000000000" pitchFamily="34" charset="-122"/>
              <a:ea typeface="苹方 特粗" panose="020B08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FBD693-4B8B-D9F8-B605-89488240109B}"/>
              </a:ext>
            </a:extLst>
          </p:cNvPr>
          <p:cNvSpPr txBox="1"/>
          <p:nvPr/>
        </p:nvSpPr>
        <p:spPr>
          <a:xfrm>
            <a:off x="1959307" y="4140776"/>
            <a:ext cx="8369716" cy="447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不隻是聊天工具，而是能夠幫助用戶自動完成交易、訂閱、購物與商業協作的數字智能體。但目前全球支付體繫並不適合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使用，因爲傳統支付必須依賴人工授權。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爲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提供了獨立支付身份、權限管理與雙軌支付通道，包括鏈上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x402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協議支付與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專用信用卡體繫。未來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可以自動完成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API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調用、商品購買以及任務支付，讓機器真正具備“自主消費能力”，這是未來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經濟的重要基礎設施。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30920A-52CC-D5B2-BCC3-FDBEA03E3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72" b="20673"/>
          <a:stretch/>
        </p:blipFill>
        <p:spPr>
          <a:xfrm>
            <a:off x="10476586" y="2971800"/>
            <a:ext cx="6419684" cy="669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51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28C85-5744-5000-359B-9B4BAABBF434}"/>
              </a:ext>
            </a:extLst>
          </p:cNvPr>
          <p:cNvSpPr txBox="1"/>
          <p:nvPr/>
        </p:nvSpPr>
        <p:spPr>
          <a:xfrm rot="10800000">
            <a:off x="-1" y="7498080"/>
            <a:ext cx="18281524" cy="2788920"/>
          </a:xfrm>
          <a:prstGeom prst="rect">
            <a:avLst/>
          </a:prstGeom>
          <a:gradFill>
            <a:gsLst>
              <a:gs pos="0">
                <a:srgbClr val="93EE2C">
                  <a:alpha val="48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A0D006-6B00-7CDE-21CD-2FF27FAAA73E}"/>
              </a:ext>
            </a:extLst>
          </p:cNvPr>
          <p:cNvSpPr/>
          <p:nvPr/>
        </p:nvSpPr>
        <p:spPr>
          <a:xfrm>
            <a:off x="1" y="9153740"/>
            <a:ext cx="18287048" cy="1134000"/>
          </a:xfrm>
          <a:prstGeom prst="rect">
            <a:avLst/>
          </a:prstGeom>
          <a:gradFill>
            <a:gsLst>
              <a:gs pos="53000">
                <a:srgbClr val="9DFA34"/>
              </a:gs>
              <a:gs pos="100000">
                <a:srgbClr val="9DFA3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700">
              <a:sym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55C7AC5-A0FE-A42D-DE51-BB27291C08AE}"/>
              </a:ext>
            </a:extLst>
          </p:cNvPr>
          <p:cNvGrpSpPr/>
          <p:nvPr/>
        </p:nvGrpSpPr>
        <p:grpSpPr>
          <a:xfrm>
            <a:off x="15357158" y="9558815"/>
            <a:ext cx="2100263" cy="323850"/>
            <a:chOff x="16123" y="9760"/>
            <a:chExt cx="2205" cy="34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3B3EC38-EB94-8260-1BD8-A1BF7C5AC265}"/>
                </a:ext>
              </a:extLst>
            </p:cNvPr>
            <p:cNvGrpSpPr/>
            <p:nvPr/>
          </p:nvGrpSpPr>
          <p:grpSpPr>
            <a:xfrm>
              <a:off x="17356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20" name="燕尾形 77">
                <a:extLst>
                  <a:ext uri="{FF2B5EF4-FFF2-40B4-BE49-F238E27FC236}">
                    <a16:creationId xmlns:a16="http://schemas.microsoft.com/office/drawing/2014/main" id="{2B300905-14B8-9132-8C93-85B75055A7E1}"/>
                  </a:ext>
                </a:extLst>
              </p:cNvPr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1" name="燕尾形 78">
                <a:extLst>
                  <a:ext uri="{FF2B5EF4-FFF2-40B4-BE49-F238E27FC236}">
                    <a16:creationId xmlns:a16="http://schemas.microsoft.com/office/drawing/2014/main" id="{CEE37D65-EAEC-8042-8B3E-54029A36BCAF}"/>
                  </a:ext>
                </a:extLst>
              </p:cNvPr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2" name="燕尾形 79">
                <a:extLst>
                  <a:ext uri="{FF2B5EF4-FFF2-40B4-BE49-F238E27FC236}">
                    <a16:creationId xmlns:a16="http://schemas.microsoft.com/office/drawing/2014/main" id="{CFA87C9B-7C8E-2F13-1421-765825D379CB}"/>
                  </a:ext>
                </a:extLst>
              </p:cNvPr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3" name="燕尾形 80">
                <a:extLst>
                  <a:ext uri="{FF2B5EF4-FFF2-40B4-BE49-F238E27FC236}">
                    <a16:creationId xmlns:a16="http://schemas.microsoft.com/office/drawing/2014/main" id="{3096AADB-7536-6910-24DA-E07425CBB41D}"/>
                  </a:ext>
                </a:extLst>
              </p:cNvPr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8C8A0A8-E533-EE99-EAB9-5C3BEC7F3837}"/>
                </a:ext>
              </a:extLst>
            </p:cNvPr>
            <p:cNvGrpSpPr/>
            <p:nvPr/>
          </p:nvGrpSpPr>
          <p:grpSpPr>
            <a:xfrm>
              <a:off x="16123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16" name="燕尾形 82">
                <a:extLst>
                  <a:ext uri="{FF2B5EF4-FFF2-40B4-BE49-F238E27FC236}">
                    <a16:creationId xmlns:a16="http://schemas.microsoft.com/office/drawing/2014/main" id="{F5B5FAD6-2382-3583-D591-D894BE8B2541}"/>
                  </a:ext>
                </a:extLst>
              </p:cNvPr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7" name="燕尾形 83">
                <a:extLst>
                  <a:ext uri="{FF2B5EF4-FFF2-40B4-BE49-F238E27FC236}">
                    <a16:creationId xmlns:a16="http://schemas.microsoft.com/office/drawing/2014/main" id="{C36787B1-4C6F-F424-18C0-AC096478BE72}"/>
                  </a:ext>
                </a:extLst>
              </p:cNvPr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8" name="燕尾形 84">
                <a:extLst>
                  <a:ext uri="{FF2B5EF4-FFF2-40B4-BE49-F238E27FC236}">
                    <a16:creationId xmlns:a16="http://schemas.microsoft.com/office/drawing/2014/main" id="{A7F8C85A-52C6-0D8B-0D73-F41AB49A9659}"/>
                  </a:ext>
                </a:extLst>
              </p:cNvPr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9" name="燕尾形 85">
                <a:extLst>
                  <a:ext uri="{FF2B5EF4-FFF2-40B4-BE49-F238E27FC236}">
                    <a16:creationId xmlns:a16="http://schemas.microsoft.com/office/drawing/2014/main" id="{C6C41B17-6B20-005E-4E08-1612EEECC8E9}"/>
                  </a:ext>
                </a:extLst>
              </p:cNvPr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</p:grpSp>
      <p:pic>
        <p:nvPicPr>
          <p:cNvPr id="24" name="Frame 35" descr="preencoded.png">
            <a:extLst>
              <a:ext uri="{FF2B5EF4-FFF2-40B4-BE49-F238E27FC236}">
                <a16:creationId xmlns:a16="http://schemas.microsoft.com/office/drawing/2014/main" id="{7F505194-7103-06F7-802C-C3858B6B0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33176" y="9482644"/>
            <a:ext cx="2703919" cy="532464"/>
          </a:xfrm>
          <a:prstGeom prst="rect">
            <a:avLst/>
          </a:prstGeom>
        </p:spPr>
      </p:pic>
      <p:pic>
        <p:nvPicPr>
          <p:cNvPr id="25" name="图片 24" descr="图片包含 文本&#10;&#10;AI 生成的内容可能不正确。">
            <a:extLst>
              <a:ext uri="{FF2B5EF4-FFF2-40B4-BE49-F238E27FC236}">
                <a16:creationId xmlns:a16="http://schemas.microsoft.com/office/drawing/2014/main" id="{95DD9D4C-EBBE-EE49-B55C-9F0BC4B5E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2832" y="9444039"/>
            <a:ext cx="1889536" cy="5834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D8E86E-744C-7B0C-D6D3-D85A31D790A1}"/>
              </a:ext>
            </a:extLst>
          </p:cNvPr>
          <p:cNvSpPr/>
          <p:nvPr/>
        </p:nvSpPr>
        <p:spPr bwMode="auto">
          <a:xfrm>
            <a:off x="6720827" y="4824512"/>
            <a:ext cx="6835571" cy="494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dist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rial" panose="020B0604020202090204" pitchFamily="34" charset="0"/>
                <a:ea typeface="+mn-ea"/>
                <a:cs typeface="+mn-ea"/>
                <a:sym typeface="Helvetica" pitchFamily="34" charset="0"/>
              </a:rPr>
              <a:t>EPAY Super Eco Q&amp;A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9F198F-CD67-FBCD-EF2C-D55B9F85EFDE}"/>
              </a:ext>
            </a:extLst>
          </p:cNvPr>
          <p:cNvSpPr/>
          <p:nvPr/>
        </p:nvSpPr>
        <p:spPr>
          <a:xfrm>
            <a:off x="6580024" y="3652706"/>
            <a:ext cx="818044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EPAY</a:t>
            </a: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超级生态问答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2F1512A-2FC4-63A7-148F-3135EE3687B3}"/>
              </a:ext>
            </a:extLst>
          </p:cNvPr>
          <p:cNvSpPr/>
          <p:nvPr/>
        </p:nvSpPr>
        <p:spPr>
          <a:xfrm>
            <a:off x="4223353" y="3616228"/>
            <a:ext cx="1656650" cy="1656648"/>
          </a:xfrm>
          <a:prstGeom prst="ellipse">
            <a:avLst/>
          </a:prstGeom>
          <a:gradFill flip="none" rotWithShape="1">
            <a:gsLst>
              <a:gs pos="0">
                <a:srgbClr val="93EE2C"/>
              </a:gs>
              <a:gs pos="100000">
                <a:srgbClr val="9DFA3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41069B-C49D-E177-91C3-6CD65E377BE5}"/>
              </a:ext>
            </a:extLst>
          </p:cNvPr>
          <p:cNvSpPr/>
          <p:nvPr/>
        </p:nvSpPr>
        <p:spPr>
          <a:xfrm>
            <a:off x="4560195" y="3941856"/>
            <a:ext cx="982961" cy="10156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latin typeface="Impact" panose="020B0806030902050204" pitchFamily="34" charset="0"/>
                <a:cs typeface="+mn-ea"/>
              </a:rPr>
              <a:t>02</a:t>
            </a:r>
            <a:endParaRPr lang="zh-CN" altLang="en-US" sz="6000" dirty="0">
              <a:latin typeface="Impact" panose="020B0806030902050204" pitchFamily="34" charset="0"/>
              <a:cs typeface="+mn-ea"/>
            </a:endParaRPr>
          </a:p>
        </p:txBody>
      </p:sp>
      <p:sp>
        <p:nvSpPr>
          <p:cNvPr id="8" name="圆角矩形 10">
            <a:extLst>
              <a:ext uri="{FF2B5EF4-FFF2-40B4-BE49-F238E27FC236}">
                <a16:creationId xmlns:a16="http://schemas.microsoft.com/office/drawing/2014/main" id="{3AB20D23-4193-14BB-E21E-5E0E8182800F}"/>
              </a:ext>
            </a:extLst>
          </p:cNvPr>
          <p:cNvSpPr/>
          <p:nvPr/>
        </p:nvSpPr>
        <p:spPr>
          <a:xfrm>
            <a:off x="4223354" y="5650412"/>
            <a:ext cx="1656650" cy="334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srgbClr val="134499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cs typeface="+mn-ea"/>
              </a:rPr>
              <a:t>PART TWO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51D6626-D9F0-53FE-36D8-FE719B83D3EB}"/>
              </a:ext>
            </a:extLst>
          </p:cNvPr>
          <p:cNvSpPr txBox="1"/>
          <p:nvPr/>
        </p:nvSpPr>
        <p:spPr>
          <a:xfrm>
            <a:off x="6621503" y="5355848"/>
            <a:ext cx="4414339" cy="12445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5400" dirty="0">
                <a:ln w="12700">
                  <a:gradFill flip="none" rotWithShape="1">
                    <a:gsLst>
                      <a:gs pos="0">
                        <a:schemeClr val="accent6">
                          <a:lumMod val="67000"/>
                        </a:schemeClr>
                      </a:gs>
                      <a:gs pos="48000">
                        <a:schemeClr val="accent6">
                          <a:lumMod val="97000"/>
                          <a:lumOff val="3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Arial Black" panose="020B0A04020102020204" pitchFamily="34" charset="0"/>
                <a:cs typeface="+mn-ea"/>
                <a:sym typeface="+mn-lt"/>
              </a:rPr>
              <a:t>ENIPAY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6A4A880-E7B7-5FD8-BD43-5CD02536E7DF}"/>
              </a:ext>
            </a:extLst>
          </p:cNvPr>
          <p:cNvSpPr txBox="1"/>
          <p:nvPr/>
        </p:nvSpPr>
        <p:spPr>
          <a:xfrm>
            <a:off x="4317024" y="6359060"/>
            <a:ext cx="9239374" cy="5904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61AA6E31-55BF-D12D-D868-2ECABB9252B8}"/>
              </a:ext>
            </a:extLst>
          </p:cNvPr>
          <p:cNvSpPr txBox="1"/>
          <p:nvPr/>
        </p:nvSpPr>
        <p:spPr>
          <a:xfrm rot="5400000">
            <a:off x="12877260" y="5407821"/>
            <a:ext cx="436545" cy="921730"/>
          </a:xfrm>
          <a:custGeom>
            <a:avLst/>
            <a:gdLst>
              <a:gd name="connsiteX0" fmla="*/ 0 w 556970"/>
              <a:gd name="connsiteY0" fmla="*/ 479483 h 1175997"/>
              <a:gd name="connsiteX1" fmla="*/ 278101 w 556970"/>
              <a:gd name="connsiteY1" fmla="*/ 0 h 1175997"/>
              <a:gd name="connsiteX2" fmla="*/ 556201 w 556970"/>
              <a:gd name="connsiteY2" fmla="*/ 479483 h 1175997"/>
              <a:gd name="connsiteX3" fmla="*/ 344358 w 556970"/>
              <a:gd name="connsiteY3" fmla="*/ 479483 h 1175997"/>
              <a:gd name="connsiteX4" fmla="*/ 556586 w 556970"/>
              <a:gd name="connsiteY4" fmla="*/ 845394 h 1175997"/>
              <a:gd name="connsiteX5" fmla="*/ 365220 w 556970"/>
              <a:gd name="connsiteY5" fmla="*/ 845394 h 1175997"/>
              <a:gd name="connsiteX6" fmla="*/ 556970 w 556970"/>
              <a:gd name="connsiteY6" fmla="*/ 1175997 h 1175997"/>
              <a:gd name="connsiteX7" fmla="*/ 768 w 556970"/>
              <a:gd name="connsiteY7" fmla="*/ 1175997 h 1175997"/>
              <a:gd name="connsiteX8" fmla="*/ 192518 w 556970"/>
              <a:gd name="connsiteY8" fmla="*/ 845394 h 1175997"/>
              <a:gd name="connsiteX9" fmla="*/ 384 w 556970"/>
              <a:gd name="connsiteY9" fmla="*/ 845394 h 1175997"/>
              <a:gd name="connsiteX10" fmla="*/ 212613 w 556970"/>
              <a:gd name="connsiteY10" fmla="*/ 479483 h 1175997"/>
            </a:gdLst>
            <a:ahLst/>
            <a:cxnLst/>
            <a:rect l="l" t="t" r="r" b="b"/>
            <a:pathLst>
              <a:path w="556970" h="1175997">
                <a:moveTo>
                  <a:pt x="0" y="479483"/>
                </a:moveTo>
                <a:lnTo>
                  <a:pt x="278101" y="0"/>
                </a:lnTo>
                <a:lnTo>
                  <a:pt x="556201" y="479483"/>
                </a:lnTo>
                <a:lnTo>
                  <a:pt x="344358" y="479483"/>
                </a:lnTo>
                <a:lnTo>
                  <a:pt x="556586" y="845394"/>
                </a:lnTo>
                <a:lnTo>
                  <a:pt x="365220" y="845394"/>
                </a:lnTo>
                <a:lnTo>
                  <a:pt x="556970" y="1175997"/>
                </a:lnTo>
                <a:lnTo>
                  <a:pt x="768" y="1175997"/>
                </a:lnTo>
                <a:lnTo>
                  <a:pt x="192518" y="845394"/>
                </a:lnTo>
                <a:lnTo>
                  <a:pt x="384" y="845394"/>
                </a:lnTo>
                <a:lnTo>
                  <a:pt x="212613" y="479483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4000">
                <a:srgbClr val="9DFA34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296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F6BDE-C574-5EEE-6701-E8B96639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E911CB1-B456-30ED-64F1-2DE46C12BC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954" b="25265"/>
          <a:stretch/>
        </p:blipFill>
        <p:spPr>
          <a:xfrm>
            <a:off x="9978719" y="1893479"/>
            <a:ext cx="8010342" cy="7231471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C23854E-8A84-3409-E0DB-B6F5A63584A2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DF8876-1C3C-6FEF-9C54-41739BCEF694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超级生态问答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FBEBB8E-1D7E-8905-F09C-EB10C4103469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Q8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EPAY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超級生態是什麼？</a:t>
            </a:r>
            <a:endParaRPr lang="zh-CN" altLang="en-US" sz="3200" dirty="0">
              <a:solidFill>
                <a:schemeClr val="tx1"/>
              </a:solidFill>
              <a:latin typeface="苹方 特粗" panose="020B0800000000000000" pitchFamily="34" charset="-122"/>
              <a:ea typeface="苹方 特粗" panose="020B08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339C7A-6FE8-ACB4-62E5-B02CFE461291}"/>
              </a:ext>
            </a:extLst>
          </p:cNvPr>
          <p:cNvSpPr txBox="1"/>
          <p:nvPr/>
        </p:nvSpPr>
        <p:spPr>
          <a:xfrm>
            <a:off x="1959307" y="4140776"/>
            <a:ext cx="8369716" cy="447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是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生態未來核心的超級加密支付生態，圍繞“全球支付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+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鏈上金融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+ AI Agent”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構建完整價值體繫。它不僅僅是一個代幣，更是整個支付生態中的流量入口與價值循環核心。隨着全球用戶通過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進行消費、轉賬、掃碼支付以及鏈上金融參與，所有流量與資金都會逐步進入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生態體繫。未來，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將連接全球支付場景、金融收益繫統以及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支付網絡，形成真正具備長期現金流與真實應用支撐的超級加密生態。</a:t>
            </a:r>
          </a:p>
        </p:txBody>
      </p:sp>
    </p:spTree>
    <p:extLst>
      <p:ext uri="{BB962C8B-B14F-4D97-AF65-F5344CB8AC3E}">
        <p14:creationId xmlns:p14="http://schemas.microsoft.com/office/powerpoint/2010/main" val="2751995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994B-B3DF-5A6C-BCFC-90C26EAD9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990EE3F-2C88-7870-A844-774A94F687C0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6DCA08-710B-0710-F4F9-1A7435DCA0C3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超级生态问答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2D448E-904E-8311-B27C-3712EC26C61A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Q9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、爲什麼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EPAY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是未來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Web3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的重要入口？</a:t>
            </a:r>
            <a:endParaRPr lang="zh-CN" altLang="en-US" sz="3200" dirty="0">
              <a:solidFill>
                <a:schemeClr val="tx1"/>
              </a:solidFill>
              <a:latin typeface="苹方 特粗" panose="020B0800000000000000" pitchFamily="34" charset="-122"/>
              <a:ea typeface="苹方 特粗" panose="020B08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C6EDA8-9971-81A1-7F5C-735D1BC7863B}"/>
              </a:ext>
            </a:extLst>
          </p:cNvPr>
          <p:cNvSpPr txBox="1"/>
          <p:nvPr/>
        </p:nvSpPr>
        <p:spPr>
          <a:xfrm>
            <a:off x="1959307" y="4140776"/>
            <a:ext cx="8369716" cy="447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Web3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最大的問題，不是資産髮行，而是缺少真正的大規模應用場景。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通過“全球支付”切入，可以讓普通用戶無需理解複雜區塊鏈技術，也能直接使用數字資産完成現實消費。同時，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可以承接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Web2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用戶進入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Web3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，而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DAPP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又可以讓用戶進一步參與鏈上金融與生態收益。未來，無論是個人消費、企業結算還是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支付，都可能通過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生態 完成，因此它不僅是支付工具，更是未來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Web3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全球化的重要流量入口。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EEB399-1A63-D086-671A-C4095E1C07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20" b="29402"/>
          <a:stretch/>
        </p:blipFill>
        <p:spPr>
          <a:xfrm>
            <a:off x="11238919" y="2808246"/>
            <a:ext cx="5786438" cy="5635023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F22BB1C0-0CCC-5E21-98C3-A4D0F5D4A6EE}"/>
              </a:ext>
            </a:extLst>
          </p:cNvPr>
          <p:cNvSpPr/>
          <p:nvPr/>
        </p:nvSpPr>
        <p:spPr>
          <a:xfrm>
            <a:off x="11238919" y="8032065"/>
            <a:ext cx="5786438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Impact" panose="020B0806030902050204" pitchFamily="34" charset="0"/>
              </a:rPr>
              <a:t>Why Is EPAY a Web3 Gateway</a:t>
            </a:r>
            <a:endParaRPr lang="zh-CN" altLang="en-US" sz="3200" dirty="0">
              <a:solidFill>
                <a:schemeClr val="tx1"/>
              </a:solidFill>
              <a:latin typeface="Impact" panose="020B0806030902050204" pitchFamily="34" charset="0"/>
              <a:ea typeface="苹方 特粗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7946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19FA-0F13-D750-AC1D-45CCF36E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D96D281-3DC9-4561-0DAB-0862FE470770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3C07EB-E619-96CC-8D8D-6CBBB2C2477C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超级生态问答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18EA945-5320-F639-E8D8-757737FE7854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Q10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EPAY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加密生態未來的價值來源是什麼？</a:t>
            </a:r>
            <a:endParaRPr lang="zh-CN" altLang="en-US" sz="3200" dirty="0">
              <a:solidFill>
                <a:schemeClr val="tx1"/>
              </a:solidFill>
              <a:latin typeface="苹方 特粗" panose="020B0800000000000000" pitchFamily="34" charset="-122"/>
              <a:ea typeface="苹方 特粗" panose="020B08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297BCD-E1AF-C593-D03C-84B0F9335823}"/>
              </a:ext>
            </a:extLst>
          </p:cNvPr>
          <p:cNvSpPr txBox="1"/>
          <p:nvPr/>
        </p:nvSpPr>
        <p:spPr>
          <a:xfrm>
            <a:off x="1959307" y="4417775"/>
            <a:ext cx="8369716" cy="3921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的核心價值來源於全球支付流量與真實消費場景。隨着越來越多用戶使用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U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卡、掃碼支付以及全球結算服務，平颱將持續産生真實手續費與支付利潤。同時，大量用戶資金會進入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DAPP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金融繫統形成資金沉淀，進一步推動整個生態增長。除此之外，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支付未來也會成爲巨大增量市場。當支付、金融、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與全球消費形成閉環後，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的價值將不再隻是市場炒作，而是由真實生態流量持續支撐。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8AFDE5-FA6D-0722-9551-9FC800219B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71" b="32479"/>
          <a:stretch/>
        </p:blipFill>
        <p:spPr>
          <a:xfrm>
            <a:off x="10577666" y="2108981"/>
            <a:ext cx="7587518" cy="632491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C0442604-5CFB-DE00-F781-075E0DC848F4}"/>
              </a:ext>
            </a:extLst>
          </p:cNvPr>
          <p:cNvSpPr/>
          <p:nvPr/>
        </p:nvSpPr>
        <p:spPr>
          <a:xfrm>
            <a:off x="11238919" y="8176845"/>
            <a:ext cx="5786438" cy="860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800" dirty="0">
                <a:solidFill>
                  <a:schemeClr val="tx1"/>
                </a:solidFill>
                <a:latin typeface="Impact" panose="020B0806030902050204" pitchFamily="34" charset="0"/>
              </a:rPr>
              <a:t>Where Does EPAY’s Value Come From</a:t>
            </a:r>
            <a:endParaRPr lang="zh-CN" altLang="en-US" sz="2800" dirty="0">
              <a:solidFill>
                <a:schemeClr val="tx1"/>
              </a:solidFill>
              <a:latin typeface="Impact" panose="020B0806030902050204" pitchFamily="34" charset="0"/>
              <a:ea typeface="苹方 特粗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4976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3E9D0-DFD6-B7A5-AC8F-F7A9760CE229}"/>
              </a:ext>
            </a:extLst>
          </p:cNvPr>
          <p:cNvSpPr txBox="1"/>
          <p:nvPr/>
        </p:nvSpPr>
        <p:spPr>
          <a:xfrm rot="10800000">
            <a:off x="-1" y="7498080"/>
            <a:ext cx="18281524" cy="2788920"/>
          </a:xfrm>
          <a:prstGeom prst="rect">
            <a:avLst/>
          </a:prstGeom>
          <a:gradFill>
            <a:gsLst>
              <a:gs pos="0">
                <a:srgbClr val="93EE2C">
                  <a:alpha val="48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B51ED3-C71A-E83B-541B-ED133D210918}"/>
              </a:ext>
            </a:extLst>
          </p:cNvPr>
          <p:cNvSpPr/>
          <p:nvPr/>
        </p:nvSpPr>
        <p:spPr>
          <a:xfrm>
            <a:off x="1" y="9153740"/>
            <a:ext cx="18287048" cy="1134000"/>
          </a:xfrm>
          <a:prstGeom prst="rect">
            <a:avLst/>
          </a:prstGeom>
          <a:gradFill>
            <a:gsLst>
              <a:gs pos="53000">
                <a:srgbClr val="9DFA34"/>
              </a:gs>
              <a:gs pos="100000">
                <a:srgbClr val="9DFA3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700">
              <a:sym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6575E4D-AF9A-0D7B-3A00-7A34BC70F197}"/>
              </a:ext>
            </a:extLst>
          </p:cNvPr>
          <p:cNvGrpSpPr/>
          <p:nvPr/>
        </p:nvGrpSpPr>
        <p:grpSpPr>
          <a:xfrm>
            <a:off x="15357158" y="9558815"/>
            <a:ext cx="2100263" cy="323850"/>
            <a:chOff x="16123" y="9760"/>
            <a:chExt cx="2205" cy="34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0553569-941A-14FF-42C1-72FD4A295BB8}"/>
                </a:ext>
              </a:extLst>
            </p:cNvPr>
            <p:cNvGrpSpPr/>
            <p:nvPr/>
          </p:nvGrpSpPr>
          <p:grpSpPr>
            <a:xfrm>
              <a:off x="17356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20" name="燕尾形 77">
                <a:extLst>
                  <a:ext uri="{FF2B5EF4-FFF2-40B4-BE49-F238E27FC236}">
                    <a16:creationId xmlns:a16="http://schemas.microsoft.com/office/drawing/2014/main" id="{16A7A179-3BC8-AA05-F775-2833AA87C428}"/>
                  </a:ext>
                </a:extLst>
              </p:cNvPr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1" name="燕尾形 78">
                <a:extLst>
                  <a:ext uri="{FF2B5EF4-FFF2-40B4-BE49-F238E27FC236}">
                    <a16:creationId xmlns:a16="http://schemas.microsoft.com/office/drawing/2014/main" id="{65E0BEB0-E3A4-C91B-BEEE-62E3E4C9EE5A}"/>
                  </a:ext>
                </a:extLst>
              </p:cNvPr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2" name="燕尾形 79">
                <a:extLst>
                  <a:ext uri="{FF2B5EF4-FFF2-40B4-BE49-F238E27FC236}">
                    <a16:creationId xmlns:a16="http://schemas.microsoft.com/office/drawing/2014/main" id="{38C5A69F-E5F5-198E-7158-87AD2D802E97}"/>
                  </a:ext>
                </a:extLst>
              </p:cNvPr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23" name="燕尾形 80">
                <a:extLst>
                  <a:ext uri="{FF2B5EF4-FFF2-40B4-BE49-F238E27FC236}">
                    <a16:creationId xmlns:a16="http://schemas.microsoft.com/office/drawing/2014/main" id="{136A0939-A163-7711-FC28-7D744B0D9507}"/>
                  </a:ext>
                </a:extLst>
              </p:cNvPr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D196322-7108-C15A-9E82-9C5730B7E86F}"/>
                </a:ext>
              </a:extLst>
            </p:cNvPr>
            <p:cNvGrpSpPr/>
            <p:nvPr/>
          </p:nvGrpSpPr>
          <p:grpSpPr>
            <a:xfrm>
              <a:off x="16123" y="9760"/>
              <a:ext cx="972" cy="340"/>
              <a:chOff x="16722" y="9359"/>
              <a:chExt cx="972" cy="340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</p:grpSpPr>
          <p:sp>
            <p:nvSpPr>
              <p:cNvPr id="16" name="燕尾形 82">
                <a:extLst>
                  <a:ext uri="{FF2B5EF4-FFF2-40B4-BE49-F238E27FC236}">
                    <a16:creationId xmlns:a16="http://schemas.microsoft.com/office/drawing/2014/main" id="{88B57A55-49F2-B71E-B299-5CA06C31579D}"/>
                  </a:ext>
                </a:extLst>
              </p:cNvPr>
              <p:cNvSpPr/>
              <p:nvPr/>
            </p:nvSpPr>
            <p:spPr>
              <a:xfrm>
                <a:off x="17194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7" name="燕尾形 83">
                <a:extLst>
                  <a:ext uri="{FF2B5EF4-FFF2-40B4-BE49-F238E27FC236}">
                    <a16:creationId xmlns:a16="http://schemas.microsoft.com/office/drawing/2014/main" id="{876B58A2-316D-9816-2691-C362BCB17223}"/>
                  </a:ext>
                </a:extLst>
              </p:cNvPr>
              <p:cNvSpPr/>
              <p:nvPr/>
            </p:nvSpPr>
            <p:spPr>
              <a:xfrm>
                <a:off x="17430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8" name="燕尾形 84">
                <a:extLst>
                  <a:ext uri="{FF2B5EF4-FFF2-40B4-BE49-F238E27FC236}">
                    <a16:creationId xmlns:a16="http://schemas.microsoft.com/office/drawing/2014/main" id="{270EA6C0-3312-5979-C1E1-AD9E95ACE363}"/>
                  </a:ext>
                </a:extLst>
              </p:cNvPr>
              <p:cNvSpPr/>
              <p:nvPr/>
            </p:nvSpPr>
            <p:spPr>
              <a:xfrm>
                <a:off x="16722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  <p:sp>
            <p:nvSpPr>
              <p:cNvPr id="19" name="燕尾形 85">
                <a:extLst>
                  <a:ext uri="{FF2B5EF4-FFF2-40B4-BE49-F238E27FC236}">
                    <a16:creationId xmlns:a16="http://schemas.microsoft.com/office/drawing/2014/main" id="{29236121-CA52-A583-8C2B-95531582BA11}"/>
                  </a:ext>
                </a:extLst>
              </p:cNvPr>
              <p:cNvSpPr/>
              <p:nvPr/>
            </p:nvSpPr>
            <p:spPr>
              <a:xfrm>
                <a:off x="16958" y="9359"/>
                <a:ext cx="264" cy="340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700"/>
              </a:p>
            </p:txBody>
          </p:sp>
        </p:grpSp>
      </p:grpSp>
      <p:pic>
        <p:nvPicPr>
          <p:cNvPr id="24" name="Frame 35" descr="preencoded.png">
            <a:extLst>
              <a:ext uri="{FF2B5EF4-FFF2-40B4-BE49-F238E27FC236}">
                <a16:creationId xmlns:a16="http://schemas.microsoft.com/office/drawing/2014/main" id="{F07C3047-ED0D-22FE-5CEE-842139DAC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33176" y="9482644"/>
            <a:ext cx="2703919" cy="532464"/>
          </a:xfrm>
          <a:prstGeom prst="rect">
            <a:avLst/>
          </a:prstGeom>
        </p:spPr>
      </p:pic>
      <p:pic>
        <p:nvPicPr>
          <p:cNvPr id="25" name="图片 24" descr="图片包含 文本&#10;&#10;AI 生成的内容可能不正确。">
            <a:extLst>
              <a:ext uri="{FF2B5EF4-FFF2-40B4-BE49-F238E27FC236}">
                <a16:creationId xmlns:a16="http://schemas.microsoft.com/office/drawing/2014/main" id="{FA0A0BAB-C54E-6202-E386-C9449916B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2832" y="9444039"/>
            <a:ext cx="1889536" cy="5834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D8E86E-744C-7B0C-D6D3-D85A31D790A1}"/>
              </a:ext>
            </a:extLst>
          </p:cNvPr>
          <p:cNvSpPr/>
          <p:nvPr/>
        </p:nvSpPr>
        <p:spPr bwMode="auto">
          <a:xfrm>
            <a:off x="6720827" y="4824512"/>
            <a:ext cx="6835571" cy="494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dist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rial" panose="020B0604020202090204" pitchFamily="34" charset="0"/>
                <a:ea typeface="+mn-ea"/>
                <a:cs typeface="+mn-ea"/>
                <a:sym typeface="Helvetica" pitchFamily="34" charset="0"/>
              </a:rPr>
              <a:t>APP &amp; DAPP Q&amp;A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9F198F-CD67-FBCD-EF2C-D55B9F85EFDE}"/>
              </a:ext>
            </a:extLst>
          </p:cNvPr>
          <p:cNvSpPr/>
          <p:nvPr/>
        </p:nvSpPr>
        <p:spPr>
          <a:xfrm>
            <a:off x="6580024" y="3652706"/>
            <a:ext cx="776206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APP &amp; DAPP </a:t>
            </a: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问答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2F1512A-2FC4-63A7-148F-3135EE3687B3}"/>
              </a:ext>
            </a:extLst>
          </p:cNvPr>
          <p:cNvSpPr/>
          <p:nvPr/>
        </p:nvSpPr>
        <p:spPr>
          <a:xfrm>
            <a:off x="4223353" y="3616228"/>
            <a:ext cx="1656650" cy="1656648"/>
          </a:xfrm>
          <a:prstGeom prst="ellipse">
            <a:avLst/>
          </a:prstGeom>
          <a:gradFill flip="none" rotWithShape="1">
            <a:gsLst>
              <a:gs pos="0">
                <a:srgbClr val="93EE2C"/>
              </a:gs>
              <a:gs pos="100000">
                <a:srgbClr val="9DFA3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41069B-C49D-E177-91C3-6CD65E377BE5}"/>
              </a:ext>
            </a:extLst>
          </p:cNvPr>
          <p:cNvSpPr/>
          <p:nvPr/>
        </p:nvSpPr>
        <p:spPr>
          <a:xfrm>
            <a:off x="4548974" y="3941856"/>
            <a:ext cx="1005403" cy="10156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latin typeface="Impact" panose="020B0806030902050204" pitchFamily="34" charset="0"/>
                <a:cs typeface="+mn-ea"/>
              </a:rPr>
              <a:t>03</a:t>
            </a:r>
            <a:endParaRPr lang="zh-CN" altLang="en-US" sz="6000" dirty="0">
              <a:latin typeface="Impact" panose="020B0806030902050204" pitchFamily="34" charset="0"/>
              <a:cs typeface="+mn-ea"/>
            </a:endParaRPr>
          </a:p>
        </p:txBody>
      </p:sp>
      <p:sp>
        <p:nvSpPr>
          <p:cNvPr id="8" name="圆角矩形 10">
            <a:extLst>
              <a:ext uri="{FF2B5EF4-FFF2-40B4-BE49-F238E27FC236}">
                <a16:creationId xmlns:a16="http://schemas.microsoft.com/office/drawing/2014/main" id="{3AB20D23-4193-14BB-E21E-5E0E8182800F}"/>
              </a:ext>
            </a:extLst>
          </p:cNvPr>
          <p:cNvSpPr/>
          <p:nvPr/>
        </p:nvSpPr>
        <p:spPr>
          <a:xfrm>
            <a:off x="4223354" y="5650412"/>
            <a:ext cx="1656650" cy="334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srgbClr val="134499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cs typeface="+mn-ea"/>
              </a:rPr>
              <a:t>PART THREE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51D6626-D9F0-53FE-36D8-FE719B83D3EB}"/>
              </a:ext>
            </a:extLst>
          </p:cNvPr>
          <p:cNvSpPr txBox="1"/>
          <p:nvPr/>
        </p:nvSpPr>
        <p:spPr>
          <a:xfrm>
            <a:off x="6621503" y="5355848"/>
            <a:ext cx="4414339" cy="12445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5400" dirty="0">
                <a:ln w="12700">
                  <a:gradFill flip="none" rotWithShape="1">
                    <a:gsLst>
                      <a:gs pos="0">
                        <a:schemeClr val="accent6">
                          <a:lumMod val="67000"/>
                        </a:schemeClr>
                      </a:gs>
                      <a:gs pos="48000">
                        <a:schemeClr val="accent6">
                          <a:lumMod val="97000"/>
                          <a:lumOff val="3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Arial Black" panose="020B0A04020102020204" pitchFamily="34" charset="0"/>
                <a:cs typeface="+mn-ea"/>
                <a:sym typeface="+mn-lt"/>
              </a:rPr>
              <a:t>ENIPAY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6A4A880-E7B7-5FD8-BD43-5CD02536E7DF}"/>
              </a:ext>
            </a:extLst>
          </p:cNvPr>
          <p:cNvSpPr txBox="1"/>
          <p:nvPr/>
        </p:nvSpPr>
        <p:spPr>
          <a:xfrm>
            <a:off x="4317024" y="6359060"/>
            <a:ext cx="9239374" cy="5904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61AA6E31-55BF-D12D-D868-2ECABB9252B8}"/>
              </a:ext>
            </a:extLst>
          </p:cNvPr>
          <p:cNvSpPr txBox="1"/>
          <p:nvPr/>
        </p:nvSpPr>
        <p:spPr>
          <a:xfrm rot="5400000">
            <a:off x="12877260" y="5407821"/>
            <a:ext cx="436545" cy="921730"/>
          </a:xfrm>
          <a:custGeom>
            <a:avLst/>
            <a:gdLst>
              <a:gd name="connsiteX0" fmla="*/ 0 w 556970"/>
              <a:gd name="connsiteY0" fmla="*/ 479483 h 1175997"/>
              <a:gd name="connsiteX1" fmla="*/ 278101 w 556970"/>
              <a:gd name="connsiteY1" fmla="*/ 0 h 1175997"/>
              <a:gd name="connsiteX2" fmla="*/ 556201 w 556970"/>
              <a:gd name="connsiteY2" fmla="*/ 479483 h 1175997"/>
              <a:gd name="connsiteX3" fmla="*/ 344358 w 556970"/>
              <a:gd name="connsiteY3" fmla="*/ 479483 h 1175997"/>
              <a:gd name="connsiteX4" fmla="*/ 556586 w 556970"/>
              <a:gd name="connsiteY4" fmla="*/ 845394 h 1175997"/>
              <a:gd name="connsiteX5" fmla="*/ 365220 w 556970"/>
              <a:gd name="connsiteY5" fmla="*/ 845394 h 1175997"/>
              <a:gd name="connsiteX6" fmla="*/ 556970 w 556970"/>
              <a:gd name="connsiteY6" fmla="*/ 1175997 h 1175997"/>
              <a:gd name="connsiteX7" fmla="*/ 768 w 556970"/>
              <a:gd name="connsiteY7" fmla="*/ 1175997 h 1175997"/>
              <a:gd name="connsiteX8" fmla="*/ 192518 w 556970"/>
              <a:gd name="connsiteY8" fmla="*/ 845394 h 1175997"/>
              <a:gd name="connsiteX9" fmla="*/ 384 w 556970"/>
              <a:gd name="connsiteY9" fmla="*/ 845394 h 1175997"/>
              <a:gd name="connsiteX10" fmla="*/ 212613 w 556970"/>
              <a:gd name="connsiteY10" fmla="*/ 479483 h 1175997"/>
            </a:gdLst>
            <a:ahLst/>
            <a:cxnLst/>
            <a:rect l="l" t="t" r="r" b="b"/>
            <a:pathLst>
              <a:path w="556970" h="1175997">
                <a:moveTo>
                  <a:pt x="0" y="479483"/>
                </a:moveTo>
                <a:lnTo>
                  <a:pt x="278101" y="0"/>
                </a:lnTo>
                <a:lnTo>
                  <a:pt x="556201" y="479483"/>
                </a:lnTo>
                <a:lnTo>
                  <a:pt x="344358" y="479483"/>
                </a:lnTo>
                <a:lnTo>
                  <a:pt x="556586" y="845394"/>
                </a:lnTo>
                <a:lnTo>
                  <a:pt x="365220" y="845394"/>
                </a:lnTo>
                <a:lnTo>
                  <a:pt x="556970" y="1175997"/>
                </a:lnTo>
                <a:lnTo>
                  <a:pt x="768" y="1175997"/>
                </a:lnTo>
                <a:lnTo>
                  <a:pt x="192518" y="845394"/>
                </a:lnTo>
                <a:lnTo>
                  <a:pt x="384" y="845394"/>
                </a:lnTo>
                <a:lnTo>
                  <a:pt x="212613" y="479483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4000">
                <a:srgbClr val="9DFA34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659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7A9F-585F-54DD-BECC-D1ED1416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E565DEB-FDB4-6595-FB58-D04A007A4F78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1D5EBB-7D70-C1C9-8C5D-706937A26AEC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超级生态问答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2194738-8427-E0FF-0A34-3FB3B7FC6DBA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Q11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、爲什麼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ENIPAY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同時做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APP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和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DAPP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？</a:t>
            </a:r>
            <a:endParaRPr lang="zh-CN" altLang="en-US" sz="3200" dirty="0">
              <a:solidFill>
                <a:schemeClr val="tx1"/>
              </a:solidFill>
              <a:latin typeface="苹方 特粗" panose="020B0800000000000000" pitchFamily="34" charset="-122"/>
              <a:ea typeface="苹方 特粗" panose="020B08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79C0F7-C533-6ED9-CB02-75A6177DE90E}"/>
              </a:ext>
            </a:extLst>
          </p:cNvPr>
          <p:cNvSpPr txBox="1"/>
          <p:nvPr/>
        </p:nvSpPr>
        <p:spPr>
          <a:xfrm>
            <a:off x="1959307" y="4140776"/>
            <a:ext cx="8369716" cy="4475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因爲未來真正的超級支付生態，必須同時擁有“現實支付能力”和“鏈上金融能力”。很多項目隻有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DAPP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，沒有真實消費場景；而傳統支付平颱又沒有鏈上金融體繫。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通過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打通全球消費場景，通過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DAPP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構建鏈上收益繫統，實現資金在生態內部循環。用戶既可以消費，也可以獲得收益，形成“支付産生流量、金融沉淀資金、資金反哺生態”的長期增長模型。這也是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區別於普通錢包與普通支付平颱的重要核心優勢。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013854-7E7E-45EC-6169-4507545DA7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837"/>
          <a:stretch/>
        </p:blipFill>
        <p:spPr>
          <a:xfrm>
            <a:off x="10749329" y="2321170"/>
            <a:ext cx="6692259" cy="870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53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4CEA7-596F-0AB9-D3F7-8A1675C9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1FA0766-F8C4-CB92-2425-526AA1AD352A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D4C0D5-041E-9ED3-B442-504C66EDE02B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超级生态问答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99AAC8C-8E18-F39C-BAF6-A859A4DA3404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Q12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ENIPAY APP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和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DAPP</a:t>
            </a:r>
            <a:r>
              <a:rPr lang="zh-CN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的區別是什麼？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1A0A62-813B-726B-ECFF-A9A4B16F0475}"/>
              </a:ext>
            </a:extLst>
          </p:cNvPr>
          <p:cNvSpPr txBox="1"/>
          <p:nvPr/>
        </p:nvSpPr>
        <p:spPr>
          <a:xfrm>
            <a:off x="1959307" y="3939978"/>
            <a:ext cx="8369716" cy="50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是麵向全球用戶的現實支付入口，主要負責“消費與支付”。用戶可以申請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Visa/Mastercard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虛擬卡或實體卡，實現全球線上購物、線下刷卡、掃碼支付以及跨境消費，讓穩定幣真正進入現實世界。</a:t>
            </a: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而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DAPP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則是鏈上金融與收益入口，主要負責“資産增值與生態參與”。用戶可以通過穩定幣參與鏈上收益繫統、金融策略與生態激勵，實現資産持續增長。簡單來説，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負責“花錢”，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DAPP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負責“賺錢”，共同形成完整的支付金融閉環。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C6BA32-780A-69E3-8A1F-51D0991EE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00" b="23248"/>
          <a:stretch/>
        </p:blipFill>
        <p:spPr>
          <a:xfrm>
            <a:off x="10896600" y="3446584"/>
            <a:ext cx="6680773" cy="6312878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A2DE9AA-D079-4E62-B436-ED16684C7B07}"/>
              </a:ext>
            </a:extLst>
          </p:cNvPr>
          <p:cNvSpPr/>
          <p:nvPr/>
        </p:nvSpPr>
        <p:spPr>
          <a:xfrm>
            <a:off x="11238919" y="2568221"/>
            <a:ext cx="5786438" cy="860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  <a:latin typeface="Impact" panose="020B0806030902050204" pitchFamily="34" charset="0"/>
              </a:rPr>
              <a:t>What's the difference?</a:t>
            </a:r>
            <a:endParaRPr lang="zh-CN" altLang="en-US" sz="3200" dirty="0">
              <a:solidFill>
                <a:schemeClr val="tx1"/>
              </a:solidFill>
              <a:latin typeface="Impact" panose="020B0806030902050204" pitchFamily="34" charset="0"/>
              <a:ea typeface="苹方 特粗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6945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C4241-260A-7150-D8AD-3A6B47B092B7}"/>
              </a:ext>
            </a:extLst>
          </p:cNvPr>
          <p:cNvSpPr txBox="1"/>
          <p:nvPr/>
        </p:nvSpPr>
        <p:spPr>
          <a:xfrm rot="10800000">
            <a:off x="-1" y="7498080"/>
            <a:ext cx="18281524" cy="2788920"/>
          </a:xfrm>
          <a:prstGeom prst="rect">
            <a:avLst/>
          </a:prstGeom>
          <a:gradFill>
            <a:gsLst>
              <a:gs pos="0">
                <a:srgbClr val="93EE2C">
                  <a:alpha val="48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8E86E-744C-7B0C-D6D3-D85A31D790A1}"/>
              </a:ext>
            </a:extLst>
          </p:cNvPr>
          <p:cNvSpPr/>
          <p:nvPr/>
        </p:nvSpPr>
        <p:spPr bwMode="auto">
          <a:xfrm>
            <a:off x="6720827" y="4824512"/>
            <a:ext cx="6835571" cy="494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>
              <a:spcBef>
                <a:spcPts val="2000"/>
              </a:spcBef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defTabSz="2437130" eaLnBrk="0" fontAlgn="base" hangingPunct="0">
              <a:spcBef>
                <a:spcPts val="2000"/>
              </a:spcBef>
              <a:spcAft>
                <a:spcPct val="0"/>
              </a:spcAft>
              <a:buSzPct val="100000"/>
              <a:buFont typeface="Arial" panose="020B0604020202090204" pitchFamily="34" charset="0"/>
              <a:buChar char="•"/>
              <a:defRPr sz="8500">
                <a:solidFill>
                  <a:srgbClr val="2728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dist">
              <a:lnSpc>
                <a:spcPct val="120000"/>
              </a:lnSpc>
              <a:spcBef>
                <a:spcPct val="0"/>
              </a:spcBef>
              <a:buSzTx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  <a:alpha val="80000"/>
                  </a:schemeClr>
                </a:solidFill>
                <a:latin typeface="Arial" panose="020B0604020202090204" pitchFamily="34" charset="0"/>
                <a:ea typeface="+mn-ea"/>
                <a:cs typeface="+mn-ea"/>
                <a:sym typeface="Helvetica" pitchFamily="34" charset="0"/>
              </a:rPr>
              <a:t>ENI Public Chain Ecosystem Q&amp;A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9F198F-CD67-FBCD-EF2C-D55B9F85EFDE}"/>
              </a:ext>
            </a:extLst>
          </p:cNvPr>
          <p:cNvSpPr/>
          <p:nvPr/>
        </p:nvSpPr>
        <p:spPr>
          <a:xfrm>
            <a:off x="6580024" y="3652706"/>
            <a:ext cx="751038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ENI</a:t>
            </a: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体繁体" panose="02010601030101010101" pitchFamily="2" charset="-122"/>
                <a:ea typeface="方正黑体繁体" panose="02010601030101010101" pitchFamily="2" charset="-122"/>
              </a:rPr>
              <a:t>公链生态问答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2F1512A-2FC4-63A7-148F-3135EE3687B3}"/>
              </a:ext>
            </a:extLst>
          </p:cNvPr>
          <p:cNvSpPr/>
          <p:nvPr/>
        </p:nvSpPr>
        <p:spPr>
          <a:xfrm>
            <a:off x="4223353" y="3616228"/>
            <a:ext cx="1656650" cy="1656648"/>
          </a:xfrm>
          <a:prstGeom prst="ellipse">
            <a:avLst/>
          </a:prstGeom>
          <a:gradFill flip="none" rotWithShape="1">
            <a:gsLst>
              <a:gs pos="0">
                <a:srgbClr val="93EE2C"/>
              </a:gs>
              <a:gs pos="100000">
                <a:srgbClr val="9DFA3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41069B-C49D-E177-91C3-6CD65E377BE5}"/>
              </a:ext>
            </a:extLst>
          </p:cNvPr>
          <p:cNvSpPr/>
          <p:nvPr/>
        </p:nvSpPr>
        <p:spPr>
          <a:xfrm>
            <a:off x="4548974" y="3941856"/>
            <a:ext cx="1005403" cy="10156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6000" dirty="0">
                <a:latin typeface="Impact" panose="020B0806030902050204" pitchFamily="34" charset="0"/>
                <a:cs typeface="+mn-ea"/>
              </a:rPr>
              <a:t>04</a:t>
            </a:r>
            <a:endParaRPr lang="zh-CN" altLang="en-US" sz="6000" dirty="0">
              <a:latin typeface="Impact" panose="020B0806030902050204" pitchFamily="34" charset="0"/>
              <a:cs typeface="+mn-ea"/>
            </a:endParaRPr>
          </a:p>
        </p:txBody>
      </p:sp>
      <p:sp>
        <p:nvSpPr>
          <p:cNvPr id="8" name="圆角矩形 10">
            <a:extLst>
              <a:ext uri="{FF2B5EF4-FFF2-40B4-BE49-F238E27FC236}">
                <a16:creationId xmlns:a16="http://schemas.microsoft.com/office/drawing/2014/main" id="{3AB20D23-4193-14BB-E21E-5E0E8182800F}"/>
              </a:ext>
            </a:extLst>
          </p:cNvPr>
          <p:cNvSpPr/>
          <p:nvPr/>
        </p:nvSpPr>
        <p:spPr>
          <a:xfrm>
            <a:off x="4223354" y="5650412"/>
            <a:ext cx="1656650" cy="334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01600" dist="38100" dir="2700000" algn="tl" rotWithShape="0">
              <a:srgbClr val="134499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cs typeface="+mn-ea"/>
              </a:rPr>
              <a:t>PART FOUR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51D6626-D9F0-53FE-36D8-FE719B83D3EB}"/>
              </a:ext>
            </a:extLst>
          </p:cNvPr>
          <p:cNvSpPr txBox="1"/>
          <p:nvPr/>
        </p:nvSpPr>
        <p:spPr>
          <a:xfrm>
            <a:off x="6621503" y="5355848"/>
            <a:ext cx="4414339" cy="12445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5400" dirty="0">
                <a:ln w="12700">
                  <a:gradFill flip="none" rotWithShape="1">
                    <a:gsLst>
                      <a:gs pos="0">
                        <a:schemeClr val="accent6">
                          <a:lumMod val="67000"/>
                        </a:schemeClr>
                      </a:gs>
                      <a:gs pos="48000">
                        <a:schemeClr val="accent6">
                          <a:lumMod val="97000"/>
                          <a:lumOff val="3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</a:ln>
                <a:noFill/>
                <a:latin typeface="Arial Black" panose="020B0A04020102020204" pitchFamily="34" charset="0"/>
                <a:cs typeface="+mn-ea"/>
                <a:sym typeface="+mn-lt"/>
              </a:rPr>
              <a:t>ENIPAY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6A4A880-E7B7-5FD8-BD43-5CD02536E7DF}"/>
              </a:ext>
            </a:extLst>
          </p:cNvPr>
          <p:cNvSpPr txBox="1"/>
          <p:nvPr/>
        </p:nvSpPr>
        <p:spPr>
          <a:xfrm>
            <a:off x="4317024" y="6359060"/>
            <a:ext cx="9239374" cy="5904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61AA6E31-55BF-D12D-D868-2ECABB9252B8}"/>
              </a:ext>
            </a:extLst>
          </p:cNvPr>
          <p:cNvSpPr txBox="1"/>
          <p:nvPr/>
        </p:nvSpPr>
        <p:spPr>
          <a:xfrm rot="5400000">
            <a:off x="12877260" y="5407821"/>
            <a:ext cx="436545" cy="921730"/>
          </a:xfrm>
          <a:custGeom>
            <a:avLst/>
            <a:gdLst>
              <a:gd name="connsiteX0" fmla="*/ 0 w 556970"/>
              <a:gd name="connsiteY0" fmla="*/ 479483 h 1175997"/>
              <a:gd name="connsiteX1" fmla="*/ 278101 w 556970"/>
              <a:gd name="connsiteY1" fmla="*/ 0 h 1175997"/>
              <a:gd name="connsiteX2" fmla="*/ 556201 w 556970"/>
              <a:gd name="connsiteY2" fmla="*/ 479483 h 1175997"/>
              <a:gd name="connsiteX3" fmla="*/ 344358 w 556970"/>
              <a:gd name="connsiteY3" fmla="*/ 479483 h 1175997"/>
              <a:gd name="connsiteX4" fmla="*/ 556586 w 556970"/>
              <a:gd name="connsiteY4" fmla="*/ 845394 h 1175997"/>
              <a:gd name="connsiteX5" fmla="*/ 365220 w 556970"/>
              <a:gd name="connsiteY5" fmla="*/ 845394 h 1175997"/>
              <a:gd name="connsiteX6" fmla="*/ 556970 w 556970"/>
              <a:gd name="connsiteY6" fmla="*/ 1175997 h 1175997"/>
              <a:gd name="connsiteX7" fmla="*/ 768 w 556970"/>
              <a:gd name="connsiteY7" fmla="*/ 1175997 h 1175997"/>
              <a:gd name="connsiteX8" fmla="*/ 192518 w 556970"/>
              <a:gd name="connsiteY8" fmla="*/ 845394 h 1175997"/>
              <a:gd name="connsiteX9" fmla="*/ 384 w 556970"/>
              <a:gd name="connsiteY9" fmla="*/ 845394 h 1175997"/>
              <a:gd name="connsiteX10" fmla="*/ 212613 w 556970"/>
              <a:gd name="connsiteY10" fmla="*/ 479483 h 1175997"/>
            </a:gdLst>
            <a:ahLst/>
            <a:cxnLst/>
            <a:rect l="l" t="t" r="r" b="b"/>
            <a:pathLst>
              <a:path w="556970" h="1175997">
                <a:moveTo>
                  <a:pt x="0" y="479483"/>
                </a:moveTo>
                <a:lnTo>
                  <a:pt x="278101" y="0"/>
                </a:lnTo>
                <a:lnTo>
                  <a:pt x="556201" y="479483"/>
                </a:lnTo>
                <a:lnTo>
                  <a:pt x="344358" y="479483"/>
                </a:lnTo>
                <a:lnTo>
                  <a:pt x="556586" y="845394"/>
                </a:lnTo>
                <a:lnTo>
                  <a:pt x="365220" y="845394"/>
                </a:lnTo>
                <a:lnTo>
                  <a:pt x="556970" y="1175997"/>
                </a:lnTo>
                <a:lnTo>
                  <a:pt x="768" y="1175997"/>
                </a:lnTo>
                <a:lnTo>
                  <a:pt x="192518" y="845394"/>
                </a:lnTo>
                <a:lnTo>
                  <a:pt x="384" y="845394"/>
                </a:lnTo>
                <a:lnTo>
                  <a:pt x="212613" y="479483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4000">
                <a:srgbClr val="9DFA34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176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12E41-1882-4CF7-7894-937B4DE3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BB7A075-5C47-817B-C538-6B498DDC9503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F434AE-01A6-7FF8-F4E7-E3620E2045F0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超级生态问答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F608FCF-A122-9FF9-FBAF-7F7C7153C9A5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Q13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公鏈是什麼？</a:t>
            </a:r>
            <a:endParaRPr lang="zh-CN" altLang="en-US" sz="3200" dirty="0">
              <a:solidFill>
                <a:schemeClr val="tx1"/>
              </a:solidFill>
              <a:latin typeface="苹方 特粗" panose="020B0800000000000000" pitchFamily="34" charset="-122"/>
              <a:ea typeface="苹方 特粗" panose="020B08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5635A1-BC94-A3A0-A3EC-6DC959136FE3}"/>
              </a:ext>
            </a:extLst>
          </p:cNvPr>
          <p:cNvSpPr txBox="1"/>
          <p:nvPr/>
        </p:nvSpPr>
        <p:spPr>
          <a:xfrm>
            <a:off x="1959307" y="3870704"/>
            <a:ext cx="8369716" cy="50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是一條專爲全球商業場景打造的超高性能企業級公鏈，採用“主網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+ Hub + </a:t>
            </a:r>
            <a:r>
              <a:rPr lang="en-US" altLang="zh-TW" sz="2400" dirty="0" err="1">
                <a:latin typeface="苹方 中等" panose="020B0400000000000000" pitchFamily="34" charset="-122"/>
                <a:ea typeface="苹方 中等" panose="020B0400000000000000" pitchFamily="34" charset="-122"/>
              </a:rPr>
              <a:t>AppChain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”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的模塊化矩陣架構，具備無限擴展能力與超高並髮處理性能。相比傳統公鏈隻服務鏈上交易，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更注重真實商業落地，能夠支撐全球支付、企業結算、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Agent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、金融繫統等大規模應用場景。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不僅支持高性能實時結算，還支持企業分鐘級髮鏈與多鏈協同，真正實現“區塊鏈基礎設施商業化”。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全球支付生態正是建立在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公鏈底層能力之上，未來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將成爲整個數字支付與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AI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金融時代的重要基礎設施。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0BA0AA0-8DCB-53B8-EC8C-3B868FD87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562" y="0"/>
            <a:ext cx="5786438" cy="10287000"/>
          </a:xfrm>
          <a:prstGeom prst="rect">
            <a:avLst/>
          </a:prstGeom>
        </p:spPr>
      </p:pic>
      <p:pic>
        <p:nvPicPr>
          <p:cNvPr id="8" name="图片 7" descr="黑暗里有灯光&#10;&#10;AI 生成的内容可能不正确。">
            <a:extLst>
              <a:ext uri="{FF2B5EF4-FFF2-40B4-BE49-F238E27FC236}">
                <a16:creationId xmlns:a16="http://schemas.microsoft.com/office/drawing/2014/main" id="{3F93FBFD-6D81-9541-48BE-BF4728BF9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4410" y="491717"/>
            <a:ext cx="2464796" cy="5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96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5416-0D2A-9A84-AD37-B3D3BC32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A4DC7FE-1B5B-3EC8-4BCB-68CD690A02E1}"/>
              </a:ext>
            </a:extLst>
          </p:cNvPr>
          <p:cNvSpPr/>
          <p:nvPr/>
        </p:nvSpPr>
        <p:spPr>
          <a:xfrm>
            <a:off x="1391730" y="2126566"/>
            <a:ext cx="9504870" cy="6998384"/>
          </a:xfrm>
          <a:prstGeom prst="roundRect">
            <a:avLst>
              <a:gd name="adj" fmla="val 7935"/>
            </a:avLst>
          </a:prstGeom>
          <a:solidFill>
            <a:schemeClr val="bg1">
              <a:lumMod val="95000"/>
            </a:schemeClr>
          </a:soli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27C248-21AE-8775-3FCD-B2A183660006}"/>
              </a:ext>
            </a:extLst>
          </p:cNvPr>
          <p:cNvSpPr txBox="1"/>
          <p:nvPr/>
        </p:nvSpPr>
        <p:spPr>
          <a:xfrm>
            <a:off x="492515" y="472440"/>
            <a:ext cx="701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EPAY</a:t>
            </a:r>
            <a:r>
              <a:rPr lang="zh-CN" altLang="en-US" sz="3600" dirty="0">
                <a:latin typeface="方正大黑繁体" panose="03000509000000000000" pitchFamily="65" charset="-122"/>
                <a:ea typeface="方正大黑繁体" panose="03000509000000000000" pitchFamily="65" charset="-122"/>
              </a:rPr>
              <a:t>超级生态问答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EA53FA2-4346-CB2A-9D6E-2152C903C399}"/>
              </a:ext>
            </a:extLst>
          </p:cNvPr>
          <p:cNvSpPr/>
          <p:nvPr/>
        </p:nvSpPr>
        <p:spPr>
          <a:xfrm>
            <a:off x="1745834" y="2626566"/>
            <a:ext cx="8796662" cy="10055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EE2C"/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Q14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、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ENI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和</a:t>
            </a:r>
            <a:r>
              <a:rPr lang="en-US" altLang="zh-TW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EPAY</a:t>
            </a:r>
            <a:r>
              <a:rPr lang="zh-TW" altLang="en-US" sz="3200" dirty="0">
                <a:solidFill>
                  <a:schemeClr val="tx1"/>
                </a:solidFill>
                <a:latin typeface="苹方 特粗" panose="020B0800000000000000" pitchFamily="34" charset="-122"/>
                <a:ea typeface="苹方 特粗" panose="020B0800000000000000" pitchFamily="34" charset="-122"/>
              </a:rPr>
              <a:t>保險倉代幣是什麼關繫？</a:t>
            </a:r>
            <a:endParaRPr lang="zh-CN" altLang="en-US" sz="3200" dirty="0">
              <a:solidFill>
                <a:schemeClr val="tx1"/>
              </a:solidFill>
              <a:latin typeface="苹方 特粗" panose="020B0800000000000000" pitchFamily="34" charset="-122"/>
              <a:ea typeface="苹方 特粗" panose="020B08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CD100E-A820-2CDC-8621-5F59B3680B49}"/>
              </a:ext>
            </a:extLst>
          </p:cNvPr>
          <p:cNvSpPr txBox="1"/>
          <p:nvPr/>
        </p:nvSpPr>
        <p:spPr>
          <a:xfrm>
            <a:off x="1959307" y="3939978"/>
            <a:ext cx="8369716" cy="50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是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公鏈的核心通証，主要承擔底層鏈上結算、生態流通與價值承載作用，是整個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公鏈生態的核心資産。而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則是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支付生態未來推出的自動保險倉代幣，主要圍繞支付流量、生態收益與價值循環構建。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採用特殊的單向流通與通縮機製，通過全球支付利潤與生態流量持續賦能價值增長。簡單來説，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是底層基礎設施核心資産，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是支付生態核心價值資産。隨着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全球支付場景不斷擴展，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ENI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與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EPAY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將共同形成“公鏈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+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支付 </a:t>
            </a:r>
            <a:r>
              <a:rPr lang="en-US" altLang="zh-TW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+ </a:t>
            </a:r>
            <a:r>
              <a:rPr lang="zh-TW" altLang="en-US" sz="2400" dirty="0">
                <a:latin typeface="苹方 中等" panose="020B0400000000000000" pitchFamily="34" charset="-122"/>
                <a:ea typeface="苹方 中等" panose="020B0400000000000000" pitchFamily="34" charset="-122"/>
              </a:rPr>
              <a:t>金融”的完整超級生態體繫。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3FA8B5-AE43-742B-7E59-3E6EDC8E7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562" y="0"/>
            <a:ext cx="5786438" cy="10287000"/>
          </a:xfrm>
          <a:prstGeom prst="rect">
            <a:avLst/>
          </a:prstGeom>
        </p:spPr>
      </p:pic>
      <p:pic>
        <p:nvPicPr>
          <p:cNvPr id="5" name="图片 4" descr="黑暗里有灯光&#10;&#10;AI 生成的内容可能不正确。">
            <a:extLst>
              <a:ext uri="{FF2B5EF4-FFF2-40B4-BE49-F238E27FC236}">
                <a16:creationId xmlns:a16="http://schemas.microsoft.com/office/drawing/2014/main" id="{D7EE9566-B6EC-9D1A-6D40-BEFA0456F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4410" y="491717"/>
            <a:ext cx="2464796" cy="5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30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ind Life Style"/>
          <p:cNvSpPr/>
          <p:nvPr/>
        </p:nvSpPr>
        <p:spPr>
          <a:xfrm>
            <a:off x="5899735" y="6791325"/>
            <a:ext cx="6488530" cy="10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800"/>
              </a:lnSpc>
              <a:buNone/>
            </a:pPr>
            <a:r>
              <a:rPr lang="zh-CN" altLang="en-US" sz="6255" kern="0" spc="-6" dirty="0">
                <a:solidFill>
                  <a:srgbClr val="FFFFFF"/>
                </a:solidFill>
                <a:latin typeface="方正大黑繁体" panose="03000509000000000000" pitchFamily="65" charset="-122"/>
                <a:ea typeface="方正大黑繁体" panose="03000509000000000000" pitchFamily="65" charset="-122"/>
                <a:cs typeface="MiSans Semibold" pitchFamily="34" charset="-120"/>
              </a:rPr>
              <a:t>全球支付</a:t>
            </a:r>
            <a:r>
              <a:rPr lang="zh-CN" altLang="en-US" sz="6255" kern="0" spc="-6" dirty="0">
                <a:solidFill>
                  <a:srgbClr val="93EE2C"/>
                </a:solidFill>
                <a:latin typeface="方正大黑繁体" panose="03000509000000000000" pitchFamily="65" charset="-122"/>
                <a:ea typeface="方正大黑繁体" panose="03000509000000000000" pitchFamily="65" charset="-122"/>
                <a:cs typeface="MiSans Semibold" pitchFamily="34" charset="-120"/>
              </a:rPr>
              <a:t>聚合平台</a:t>
            </a:r>
            <a:endParaRPr lang="en-US" sz="6255" dirty="0">
              <a:solidFill>
                <a:srgbClr val="93EE2C"/>
              </a:solidFill>
              <a:latin typeface="方正大黑繁体" panose="03000509000000000000" pitchFamily="65" charset="-122"/>
              <a:ea typeface="方正大黑繁体" panose="03000509000000000000" pitchFamily="65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2495</Words>
  <Application>Microsoft Office PowerPoint</Application>
  <PresentationFormat>自定义</PresentationFormat>
  <Paragraphs>95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方正黑体繁体</vt:lpstr>
      <vt:lpstr>Arial Black</vt:lpstr>
      <vt:lpstr>苹方 特粗</vt:lpstr>
      <vt:lpstr>汉仪菱心体简</vt:lpstr>
      <vt:lpstr>Impact</vt:lpstr>
      <vt:lpstr>方正大黑繁体</vt:lpstr>
      <vt:lpstr>苹方 中等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笑天 李</cp:lastModifiedBy>
  <cp:revision>17</cp:revision>
  <dcterms:created xsi:type="dcterms:W3CDTF">2026-03-30T05:35:26Z</dcterms:created>
  <dcterms:modified xsi:type="dcterms:W3CDTF">2026-05-20T08:39:16Z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CE4D8EC0966A9887EE0ACA69A68643F1_42</vt:lpwstr>
  </property>
  <property fmtid="{D5CDD505-2E9C-101B-9397-08002B2CF9AE}" pid="3" name="KSOProductBuildVer">
    <vt:lpwstr>2052-12.1.23540.23540</vt:lpwstr>
  </property>
</Properties>
</file>